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charts/chart2.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3.xml" ContentType="application/vnd.openxmlformats-officedocument.drawingml.chart+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5" d="100"/>
          <a:sy n="75" d="100"/>
        </p:scale>
        <p:origin x="72" y="8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Digital adoption %</c:v>
                </c:pt>
              </c:strCache>
            </c:strRef>
          </c:tx>
          <c:spPr>
            <a:solidFill>
              <a:srgbClr val="2E8B57"/>
            </a:solidFill>
            <a:effectLst/>
          </c:spPr>
          <c:invertIfNegative val="0"/>
          <c:dPt>
            <c:idx val="0"/>
            <c:invertIfNegative val="0"/>
            <c:bubble3D val="0"/>
            <c:spPr>
              <a:solidFill>
                <a:srgbClr val="2E8B57"/>
              </a:solidFill>
              <a:effectLst/>
            </c:spPr>
            <c:extLst>
              <c:ext xmlns:c16="http://schemas.microsoft.com/office/drawing/2014/chart" uri="{C3380CC4-5D6E-409C-BE32-E72D297353CC}">
                <c16:uniqueId val="{00000001-8A8C-4279-9F72-68C13B23FC21}"/>
              </c:ext>
            </c:extLst>
          </c:dPt>
          <c:dPt>
            <c:idx val="1"/>
            <c:invertIfNegative val="0"/>
            <c:bubble3D val="0"/>
            <c:spPr>
              <a:solidFill>
                <a:srgbClr val="2E8B57"/>
              </a:solidFill>
              <a:effectLst/>
            </c:spPr>
            <c:extLst>
              <c:ext xmlns:c16="http://schemas.microsoft.com/office/drawing/2014/chart" uri="{C3380CC4-5D6E-409C-BE32-E72D297353CC}">
                <c16:uniqueId val="{00000003-8A8C-4279-9F72-68C13B23FC21}"/>
              </c:ext>
            </c:extLst>
          </c:dPt>
          <c:dPt>
            <c:idx val="2"/>
            <c:invertIfNegative val="0"/>
            <c:bubble3D val="0"/>
            <c:spPr>
              <a:solidFill>
                <a:srgbClr val="2E8B57"/>
              </a:solidFill>
              <a:effectLst/>
            </c:spPr>
            <c:extLst>
              <c:ext xmlns:c16="http://schemas.microsoft.com/office/drawing/2014/chart" uri="{C3380CC4-5D6E-409C-BE32-E72D297353CC}">
                <c16:uniqueId val="{00000005-8A8C-4279-9F72-68C13B23FC21}"/>
              </c:ext>
            </c:extLst>
          </c:dPt>
          <c:dPt>
            <c:idx val="3"/>
            <c:invertIfNegative val="0"/>
            <c:bubble3D val="0"/>
            <c:spPr>
              <a:solidFill>
                <a:srgbClr val="2E8B57"/>
              </a:solidFill>
              <a:effectLst/>
            </c:spPr>
            <c:extLst>
              <c:ext xmlns:c16="http://schemas.microsoft.com/office/drawing/2014/chart" uri="{C3380CC4-5D6E-409C-BE32-E72D297353CC}">
                <c16:uniqueId val="{00000007-8A8C-4279-9F72-68C13B23FC21}"/>
              </c:ext>
            </c:extLst>
          </c:dPt>
          <c:dPt>
            <c:idx val="4"/>
            <c:invertIfNegative val="0"/>
            <c:bubble3D val="0"/>
            <c:spPr>
              <a:solidFill>
                <a:srgbClr val="2E8B57"/>
              </a:solidFill>
              <a:effectLst/>
            </c:spPr>
            <c:extLst>
              <c:ext xmlns:c16="http://schemas.microsoft.com/office/drawing/2014/chart" uri="{C3380CC4-5D6E-409C-BE32-E72D297353CC}">
                <c16:uniqueId val="{00000009-8A8C-4279-9F72-68C13B23FC21}"/>
              </c:ext>
            </c:extLst>
          </c:dPt>
          <c:dPt>
            <c:idx val="5"/>
            <c:invertIfNegative val="0"/>
            <c:bubble3D val="0"/>
            <c:spPr>
              <a:solidFill>
                <a:srgbClr val="C0392B"/>
              </a:solidFill>
              <a:effectLst/>
            </c:spPr>
            <c:extLst>
              <c:ext xmlns:c16="http://schemas.microsoft.com/office/drawing/2014/chart" uri="{C3380CC4-5D6E-409C-BE32-E72D297353CC}">
                <c16:uniqueId val="{0000000B-8A8C-4279-9F72-68C13B23FC21}"/>
              </c:ext>
            </c:extLst>
          </c:dPt>
          <c:dPt>
            <c:idx val="6"/>
            <c:invertIfNegative val="0"/>
            <c:bubble3D val="0"/>
            <c:spPr>
              <a:solidFill>
                <a:srgbClr val="C0392B"/>
              </a:solidFill>
              <a:effectLst/>
            </c:spPr>
            <c:extLst>
              <c:ext xmlns:c16="http://schemas.microsoft.com/office/drawing/2014/chart" uri="{C3380CC4-5D6E-409C-BE32-E72D297353CC}">
                <c16:uniqueId val="{0000000D-8A8C-4279-9F72-68C13B23FC21}"/>
              </c:ext>
            </c:extLst>
          </c:dPt>
          <c:dPt>
            <c:idx val="7"/>
            <c:invertIfNegative val="0"/>
            <c:bubble3D val="0"/>
            <c:spPr>
              <a:solidFill>
                <a:srgbClr val="C0392B"/>
              </a:solidFill>
              <a:effectLst/>
            </c:spPr>
            <c:extLst>
              <c:ext xmlns:c16="http://schemas.microsoft.com/office/drawing/2014/chart" uri="{C3380CC4-5D6E-409C-BE32-E72D297353CC}">
                <c16:uniqueId val="{0000000F-8A8C-4279-9F72-68C13B23FC21}"/>
              </c:ext>
            </c:extLst>
          </c:dPt>
          <c:dPt>
            <c:idx val="8"/>
            <c:invertIfNegative val="0"/>
            <c:bubble3D val="0"/>
            <c:spPr>
              <a:solidFill>
                <a:srgbClr val="C0392B"/>
              </a:solidFill>
              <a:effectLst/>
            </c:spPr>
            <c:extLst>
              <c:ext xmlns:c16="http://schemas.microsoft.com/office/drawing/2014/chart" uri="{C3380CC4-5D6E-409C-BE32-E72D297353CC}">
                <c16:uniqueId val="{00000011-8A8C-4279-9F72-68C13B23FC21}"/>
              </c:ext>
            </c:extLst>
          </c:dPt>
          <c:dPt>
            <c:idx val="9"/>
            <c:invertIfNegative val="0"/>
            <c:bubble3D val="0"/>
            <c:spPr>
              <a:solidFill>
                <a:srgbClr val="C0392B"/>
              </a:solidFill>
              <a:effectLst/>
            </c:spPr>
            <c:extLst>
              <c:ext xmlns:c16="http://schemas.microsoft.com/office/drawing/2014/chart" uri="{C3380CC4-5D6E-409C-BE32-E72D297353CC}">
                <c16:uniqueId val="{00000013-8A8C-4279-9F72-68C13B23FC21}"/>
              </c:ext>
            </c:extLst>
          </c:dPt>
          <c:dPt>
            <c:idx val="10"/>
            <c:invertIfNegative val="0"/>
            <c:bubble3D val="0"/>
            <c:spPr>
              <a:solidFill>
                <a:srgbClr val="C0392B"/>
              </a:solidFill>
              <a:effectLst/>
            </c:spPr>
            <c:extLst>
              <c:ext xmlns:c16="http://schemas.microsoft.com/office/drawing/2014/chart" uri="{C3380CC4-5D6E-409C-BE32-E72D297353CC}">
                <c16:uniqueId val="{00000015-8A8C-4279-9F72-68C13B23FC21}"/>
              </c:ext>
            </c:extLst>
          </c:dPt>
          <c:dPt>
            <c:idx val="11"/>
            <c:invertIfNegative val="0"/>
            <c:bubble3D val="0"/>
            <c:spPr>
              <a:solidFill>
                <a:srgbClr val="C0392B"/>
              </a:solidFill>
              <a:effectLst/>
            </c:spPr>
            <c:extLst>
              <c:ext xmlns:c16="http://schemas.microsoft.com/office/drawing/2014/chart" uri="{C3380CC4-5D6E-409C-BE32-E72D297353CC}">
                <c16:uniqueId val="{00000017-8A8C-4279-9F72-68C13B23FC21}"/>
              </c:ext>
            </c:extLst>
          </c:dPt>
          <c:dPt>
            <c:idx val="12"/>
            <c:invertIfNegative val="0"/>
            <c:bubble3D val="0"/>
            <c:spPr>
              <a:solidFill>
                <a:srgbClr val="C0392B"/>
              </a:solidFill>
              <a:effectLst/>
            </c:spPr>
            <c:extLst>
              <c:ext xmlns:c16="http://schemas.microsoft.com/office/drawing/2014/chart" uri="{C3380CC4-5D6E-409C-BE32-E72D297353CC}">
                <c16:uniqueId val="{00000019-8A8C-4279-9F72-68C13B23FC21}"/>
              </c:ext>
            </c:extLst>
          </c:dPt>
          <c:dLbls>
            <c:numFmt formatCode="0.0" sourceLinked="0"/>
            <c:spPr>
              <a:noFill/>
              <a:ln>
                <a:noFill/>
              </a:ln>
              <a:effectLst/>
            </c:spPr>
            <c:txPr>
              <a:bodyPr/>
              <a:lstStyle/>
              <a:p>
                <a:pPr>
                  <a:defRPr sz="1200" b="0" i="0" u="none" strike="noStrike">
                    <a:solidFill>
                      <a:srgbClr val="0B1F3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Sheet1!$A$2:$A$14</c:f>
              <c:strCache>
                <c:ptCount val="13"/>
                <c:pt idx="0">
                  <c:v>Riyadh</c:v>
                </c:pt>
                <c:pt idx="1">
                  <c:v>Makkah</c:v>
                </c:pt>
                <c:pt idx="2">
                  <c:v>Eastern Province</c:v>
                </c:pt>
                <c:pt idx="3">
                  <c:v>Madinah</c:v>
                </c:pt>
                <c:pt idx="4">
                  <c:v>Qassim</c:v>
                </c:pt>
                <c:pt idx="5">
                  <c:v>Al-Jouf</c:v>
                </c:pt>
                <c:pt idx="6">
                  <c:v>Hail</c:v>
                </c:pt>
                <c:pt idx="7">
                  <c:v>Tabuk</c:v>
                </c:pt>
                <c:pt idx="8">
                  <c:v>Asir</c:v>
                </c:pt>
                <c:pt idx="9">
                  <c:v>Jazan</c:v>
                </c:pt>
                <c:pt idx="10">
                  <c:v>Al-Baha</c:v>
                </c:pt>
                <c:pt idx="11">
                  <c:v>Northern Borders</c:v>
                </c:pt>
                <c:pt idx="12">
                  <c:v>Najran</c:v>
                </c:pt>
              </c:strCache>
            </c:strRef>
          </c:cat>
          <c:val>
            <c:numRef>
              <c:f>Sheet1!$B$2:$B$14</c:f>
              <c:numCache>
                <c:formatCode>General</c:formatCode>
                <c:ptCount val="13"/>
                <c:pt idx="0">
                  <c:v>70.8</c:v>
                </c:pt>
                <c:pt idx="1">
                  <c:v>70.7</c:v>
                </c:pt>
                <c:pt idx="2">
                  <c:v>68.7</c:v>
                </c:pt>
                <c:pt idx="3">
                  <c:v>68.2</c:v>
                </c:pt>
                <c:pt idx="4">
                  <c:v>66.099999999999994</c:v>
                </c:pt>
                <c:pt idx="5">
                  <c:v>64.8</c:v>
                </c:pt>
                <c:pt idx="6">
                  <c:v>64.7</c:v>
                </c:pt>
                <c:pt idx="7">
                  <c:v>64.5</c:v>
                </c:pt>
                <c:pt idx="8">
                  <c:v>64.400000000000006</c:v>
                </c:pt>
                <c:pt idx="9">
                  <c:v>63</c:v>
                </c:pt>
                <c:pt idx="10">
                  <c:v>62.8</c:v>
                </c:pt>
                <c:pt idx="11">
                  <c:v>62.7</c:v>
                </c:pt>
                <c:pt idx="12">
                  <c:v>60.9</c:v>
                </c:pt>
              </c:numCache>
            </c:numRef>
          </c:val>
          <c:extLst>
            <c:ext xmlns:c16="http://schemas.microsoft.com/office/drawing/2014/chart" uri="{C3380CC4-5D6E-409C-BE32-E72D297353CC}">
              <c16:uniqueId val="{0000001A-8A8C-4279-9F72-68C13B23FC21}"/>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B1F3A"/>
                </a:solidFill>
                <a:latin typeface="+mn-lt"/>
              </a:defRPr>
            </a:pPr>
            <a:endParaRPr lang="en-US"/>
          </a:p>
        </c:txPr>
        <c:crossAx val="2094734552"/>
        <c:crosses val="autoZero"/>
        <c:auto val="1"/>
        <c:lblAlgn val="ctr"/>
        <c:lblOffset val="100"/>
        <c:noMultiLvlLbl val="1"/>
      </c:catAx>
      <c:valAx>
        <c:axId val="2094734552"/>
        <c:scaling>
          <c:orientation val="minMax"/>
          <c:max val="80"/>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Gap to 65% (pts)</c:v>
                </c:pt>
              </c:strCache>
            </c:strRef>
          </c:tx>
          <c:spPr>
            <a:solidFill>
              <a:srgbClr val="C0392B"/>
            </a:solidFill>
            <a:effectLst/>
          </c:spPr>
          <c:invertIfNegative val="0"/>
          <c:dPt>
            <c:idx val="0"/>
            <c:invertIfNegative val="0"/>
            <c:bubble3D val="0"/>
            <c:spPr>
              <a:solidFill>
                <a:srgbClr val="C0392B"/>
              </a:solidFill>
              <a:effectLst/>
            </c:spPr>
            <c:extLst>
              <c:ext xmlns:c16="http://schemas.microsoft.com/office/drawing/2014/chart" uri="{C3380CC4-5D6E-409C-BE32-E72D297353CC}">
                <c16:uniqueId val="{00000001-8448-4BBB-990C-4AAFF503109F}"/>
              </c:ext>
            </c:extLst>
          </c:dPt>
          <c:dPt>
            <c:idx val="1"/>
            <c:invertIfNegative val="0"/>
            <c:bubble3D val="0"/>
            <c:spPr>
              <a:solidFill>
                <a:srgbClr val="C0392B"/>
              </a:solidFill>
              <a:effectLst/>
            </c:spPr>
            <c:extLst>
              <c:ext xmlns:c16="http://schemas.microsoft.com/office/drawing/2014/chart" uri="{C3380CC4-5D6E-409C-BE32-E72D297353CC}">
                <c16:uniqueId val="{00000003-8448-4BBB-990C-4AAFF503109F}"/>
              </c:ext>
            </c:extLst>
          </c:dPt>
          <c:dPt>
            <c:idx val="2"/>
            <c:invertIfNegative val="0"/>
            <c:bubble3D val="0"/>
            <c:spPr>
              <a:solidFill>
                <a:srgbClr val="C0392B"/>
              </a:solidFill>
              <a:effectLst/>
            </c:spPr>
            <c:extLst>
              <c:ext xmlns:c16="http://schemas.microsoft.com/office/drawing/2014/chart" uri="{C3380CC4-5D6E-409C-BE32-E72D297353CC}">
                <c16:uniqueId val="{00000005-8448-4BBB-990C-4AAFF503109F}"/>
              </c:ext>
            </c:extLst>
          </c:dPt>
          <c:dPt>
            <c:idx val="3"/>
            <c:invertIfNegative val="0"/>
            <c:bubble3D val="0"/>
            <c:spPr>
              <a:solidFill>
                <a:srgbClr val="C0392B"/>
              </a:solidFill>
              <a:effectLst/>
            </c:spPr>
            <c:extLst>
              <c:ext xmlns:c16="http://schemas.microsoft.com/office/drawing/2014/chart" uri="{C3380CC4-5D6E-409C-BE32-E72D297353CC}">
                <c16:uniqueId val="{00000007-8448-4BBB-990C-4AAFF503109F}"/>
              </c:ext>
            </c:extLst>
          </c:dPt>
          <c:dPt>
            <c:idx val="4"/>
            <c:invertIfNegative val="0"/>
            <c:bubble3D val="0"/>
            <c:spPr>
              <a:solidFill>
                <a:srgbClr val="F2A541"/>
              </a:solidFill>
              <a:effectLst/>
            </c:spPr>
            <c:extLst>
              <c:ext xmlns:c16="http://schemas.microsoft.com/office/drawing/2014/chart" uri="{C3380CC4-5D6E-409C-BE32-E72D297353CC}">
                <c16:uniqueId val="{00000009-8448-4BBB-990C-4AAFF503109F}"/>
              </c:ext>
            </c:extLst>
          </c:dPt>
          <c:dPt>
            <c:idx val="5"/>
            <c:invertIfNegative val="0"/>
            <c:bubble3D val="0"/>
            <c:spPr>
              <a:solidFill>
                <a:srgbClr val="F2A541"/>
              </a:solidFill>
              <a:effectLst/>
            </c:spPr>
            <c:extLst>
              <c:ext xmlns:c16="http://schemas.microsoft.com/office/drawing/2014/chart" uri="{C3380CC4-5D6E-409C-BE32-E72D297353CC}">
                <c16:uniqueId val="{0000000B-8448-4BBB-990C-4AAFF503109F}"/>
              </c:ext>
            </c:extLst>
          </c:dPt>
          <c:dPt>
            <c:idx val="6"/>
            <c:invertIfNegative val="0"/>
            <c:bubble3D val="0"/>
            <c:spPr>
              <a:solidFill>
                <a:srgbClr val="F2A541"/>
              </a:solidFill>
              <a:effectLst/>
            </c:spPr>
            <c:extLst>
              <c:ext xmlns:c16="http://schemas.microsoft.com/office/drawing/2014/chart" uri="{C3380CC4-5D6E-409C-BE32-E72D297353CC}">
                <c16:uniqueId val="{0000000D-8448-4BBB-990C-4AAFF503109F}"/>
              </c:ext>
            </c:extLst>
          </c:dPt>
          <c:dPt>
            <c:idx val="7"/>
            <c:invertIfNegative val="0"/>
            <c:bubble3D val="0"/>
            <c:spPr>
              <a:solidFill>
                <a:srgbClr val="F2A541"/>
              </a:solidFill>
              <a:effectLst/>
            </c:spPr>
            <c:extLst>
              <c:ext xmlns:c16="http://schemas.microsoft.com/office/drawing/2014/chart" uri="{C3380CC4-5D6E-409C-BE32-E72D297353CC}">
                <c16:uniqueId val="{0000000F-8448-4BBB-990C-4AAFF503109F}"/>
              </c:ext>
            </c:extLst>
          </c:dPt>
          <c:dLbls>
            <c:numFmt formatCode="0.0" sourceLinked="0"/>
            <c:spPr>
              <a:noFill/>
              <a:ln>
                <a:noFill/>
              </a:ln>
              <a:effectLst/>
            </c:spPr>
            <c:txPr>
              <a:bodyPr/>
              <a:lstStyle/>
              <a:p>
                <a:pPr>
                  <a:defRPr sz="1200" b="0" i="0" u="none" strike="noStrike">
                    <a:solidFill>
                      <a:srgbClr val="0B1F3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Najran</c:v>
                </c:pt>
                <c:pt idx="1">
                  <c:v>Northern Borders</c:v>
                </c:pt>
                <c:pt idx="2">
                  <c:v>Al-Baha</c:v>
                </c:pt>
                <c:pt idx="3">
                  <c:v>Jazan</c:v>
                </c:pt>
                <c:pt idx="4">
                  <c:v>Asir</c:v>
                </c:pt>
                <c:pt idx="5">
                  <c:v>Tabuk</c:v>
                </c:pt>
                <c:pt idx="6">
                  <c:v>Hail</c:v>
                </c:pt>
                <c:pt idx="7">
                  <c:v>Al-Jouf</c:v>
                </c:pt>
              </c:strCache>
            </c:strRef>
          </c:cat>
          <c:val>
            <c:numRef>
              <c:f>Sheet1!$B$2:$B$9</c:f>
              <c:numCache>
                <c:formatCode>General</c:formatCode>
                <c:ptCount val="8"/>
                <c:pt idx="0">
                  <c:v>4.0999999999999996</c:v>
                </c:pt>
                <c:pt idx="1">
                  <c:v>2.2999999999999998</c:v>
                </c:pt>
                <c:pt idx="2">
                  <c:v>2.2000000000000002</c:v>
                </c:pt>
                <c:pt idx="3">
                  <c:v>2</c:v>
                </c:pt>
                <c:pt idx="4">
                  <c:v>0.6</c:v>
                </c:pt>
                <c:pt idx="5">
                  <c:v>0.5</c:v>
                </c:pt>
                <c:pt idx="6">
                  <c:v>0.3</c:v>
                </c:pt>
                <c:pt idx="7">
                  <c:v>0.2</c:v>
                </c:pt>
              </c:numCache>
            </c:numRef>
          </c:val>
          <c:extLst>
            <c:ext xmlns:c16="http://schemas.microsoft.com/office/drawing/2014/chart" uri="{C3380CC4-5D6E-409C-BE32-E72D297353CC}">
              <c16:uniqueId val="{00000010-8448-4BBB-990C-4AAFF503109F}"/>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B1F3A"/>
                </a:solidFill>
                <a:latin typeface="+mn-lt"/>
              </a:defRPr>
            </a:pPr>
            <a:endParaRPr lang="en-US"/>
          </a:p>
        </c:txPr>
        <c:crossAx val="2094734552"/>
        <c:crosses val="autoZero"/>
        <c:auto val="1"/>
        <c:lblAlgn val="ctr"/>
        <c:lblOffset val="100"/>
        <c:noMultiLvlLbl val="1"/>
      </c:catAx>
      <c:valAx>
        <c:axId val="2094734552"/>
        <c:scaling>
          <c:orientation val="minMax"/>
          <c:max val="5"/>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SAR millions</c:v>
                </c:pt>
              </c:strCache>
            </c:strRef>
          </c:tx>
          <c:spPr>
            <a:solidFill>
              <a:srgbClr val="0B7A75"/>
            </a:solidFill>
            <a:effectLst/>
          </c:spPr>
          <c:invertIfNegative val="0"/>
          <c:dPt>
            <c:idx val="0"/>
            <c:invertIfNegative val="0"/>
            <c:bubble3D val="0"/>
            <c:spPr>
              <a:solidFill>
                <a:srgbClr val="0B7A75"/>
              </a:solidFill>
              <a:effectLst/>
            </c:spPr>
            <c:extLst>
              <c:ext xmlns:c16="http://schemas.microsoft.com/office/drawing/2014/chart" uri="{C3380CC4-5D6E-409C-BE32-E72D297353CC}">
                <c16:uniqueId val="{00000001-7369-4B1F-BDC6-7380DD42976E}"/>
              </c:ext>
            </c:extLst>
          </c:dPt>
          <c:dPt>
            <c:idx val="1"/>
            <c:invertIfNegative val="0"/>
            <c:bubble3D val="0"/>
            <c:spPr>
              <a:solidFill>
                <a:srgbClr val="0B7A75"/>
              </a:solidFill>
              <a:effectLst/>
            </c:spPr>
            <c:extLst>
              <c:ext xmlns:c16="http://schemas.microsoft.com/office/drawing/2014/chart" uri="{C3380CC4-5D6E-409C-BE32-E72D297353CC}">
                <c16:uniqueId val="{00000003-7369-4B1F-BDC6-7380DD42976E}"/>
              </c:ext>
            </c:extLst>
          </c:dPt>
          <c:dPt>
            <c:idx val="2"/>
            <c:invertIfNegative val="0"/>
            <c:bubble3D val="0"/>
            <c:spPr>
              <a:solidFill>
                <a:srgbClr val="0B7A75"/>
              </a:solidFill>
              <a:effectLst/>
            </c:spPr>
            <c:extLst>
              <c:ext xmlns:c16="http://schemas.microsoft.com/office/drawing/2014/chart" uri="{C3380CC4-5D6E-409C-BE32-E72D297353CC}">
                <c16:uniqueId val="{00000005-7369-4B1F-BDC6-7380DD42976E}"/>
              </c:ext>
            </c:extLst>
          </c:dPt>
          <c:dPt>
            <c:idx val="3"/>
            <c:invertIfNegative val="0"/>
            <c:bubble3D val="0"/>
            <c:spPr>
              <a:solidFill>
                <a:srgbClr val="0B7A75"/>
              </a:solidFill>
              <a:effectLst/>
            </c:spPr>
            <c:extLst>
              <c:ext xmlns:c16="http://schemas.microsoft.com/office/drawing/2014/chart" uri="{C3380CC4-5D6E-409C-BE32-E72D297353CC}">
                <c16:uniqueId val="{00000007-7369-4B1F-BDC6-7380DD42976E}"/>
              </c:ext>
            </c:extLst>
          </c:dPt>
          <c:dPt>
            <c:idx val="4"/>
            <c:invertIfNegative val="0"/>
            <c:bubble3D val="0"/>
            <c:spPr>
              <a:solidFill>
                <a:srgbClr val="8FB8DE"/>
              </a:solidFill>
              <a:effectLst/>
            </c:spPr>
            <c:extLst>
              <c:ext xmlns:c16="http://schemas.microsoft.com/office/drawing/2014/chart" uri="{C3380CC4-5D6E-409C-BE32-E72D297353CC}">
                <c16:uniqueId val="{00000009-7369-4B1F-BDC6-7380DD42976E}"/>
              </c:ext>
            </c:extLst>
          </c:dPt>
          <c:dPt>
            <c:idx val="5"/>
            <c:invertIfNegative val="0"/>
            <c:bubble3D val="0"/>
            <c:spPr>
              <a:solidFill>
                <a:srgbClr val="8FB8DE"/>
              </a:solidFill>
              <a:effectLst/>
            </c:spPr>
            <c:extLst>
              <c:ext xmlns:c16="http://schemas.microsoft.com/office/drawing/2014/chart" uri="{C3380CC4-5D6E-409C-BE32-E72D297353CC}">
                <c16:uniqueId val="{0000000B-7369-4B1F-BDC6-7380DD42976E}"/>
              </c:ext>
            </c:extLst>
          </c:dPt>
          <c:dPt>
            <c:idx val="6"/>
            <c:invertIfNegative val="0"/>
            <c:bubble3D val="0"/>
            <c:spPr>
              <a:solidFill>
                <a:srgbClr val="8FB8DE"/>
              </a:solidFill>
              <a:effectLst/>
            </c:spPr>
            <c:extLst>
              <c:ext xmlns:c16="http://schemas.microsoft.com/office/drawing/2014/chart" uri="{C3380CC4-5D6E-409C-BE32-E72D297353CC}">
                <c16:uniqueId val="{0000000D-7369-4B1F-BDC6-7380DD42976E}"/>
              </c:ext>
            </c:extLst>
          </c:dPt>
          <c:dPt>
            <c:idx val="7"/>
            <c:invertIfNegative val="0"/>
            <c:bubble3D val="0"/>
            <c:spPr>
              <a:solidFill>
                <a:srgbClr val="8FB8DE"/>
              </a:solidFill>
              <a:effectLst/>
            </c:spPr>
            <c:extLst>
              <c:ext xmlns:c16="http://schemas.microsoft.com/office/drawing/2014/chart" uri="{C3380CC4-5D6E-409C-BE32-E72D297353CC}">
                <c16:uniqueId val="{0000000F-7369-4B1F-BDC6-7380DD42976E}"/>
              </c:ext>
            </c:extLst>
          </c:dPt>
          <c:dLbls>
            <c:numFmt formatCode="0.0" sourceLinked="0"/>
            <c:spPr>
              <a:noFill/>
              <a:ln>
                <a:noFill/>
              </a:ln>
              <a:effectLst/>
            </c:spPr>
            <c:txPr>
              <a:bodyPr/>
              <a:lstStyle/>
              <a:p>
                <a:pPr>
                  <a:defRPr sz="1200" b="0" i="0" u="none" strike="noStrike">
                    <a:solidFill>
                      <a:srgbClr val="0B1F3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Najran</c:v>
                </c:pt>
                <c:pt idx="1">
                  <c:v>Northern Borders</c:v>
                </c:pt>
                <c:pt idx="2">
                  <c:v>Al-Baha</c:v>
                </c:pt>
                <c:pt idx="3">
                  <c:v>Jazan</c:v>
                </c:pt>
                <c:pt idx="4">
                  <c:v>Al-Jouf</c:v>
                </c:pt>
                <c:pt idx="5">
                  <c:v>Hail</c:v>
                </c:pt>
                <c:pt idx="6">
                  <c:v>Tabuk</c:v>
                </c:pt>
                <c:pt idx="7">
                  <c:v>Asir</c:v>
                </c:pt>
              </c:strCache>
            </c:strRef>
          </c:cat>
          <c:val>
            <c:numRef>
              <c:f>Sheet1!$B$2:$B$9</c:f>
              <c:numCache>
                <c:formatCode>General</c:formatCode>
                <c:ptCount val="8"/>
                <c:pt idx="0">
                  <c:v>12.5</c:v>
                </c:pt>
                <c:pt idx="1">
                  <c:v>7</c:v>
                </c:pt>
                <c:pt idx="2">
                  <c:v>6.5</c:v>
                </c:pt>
                <c:pt idx="3">
                  <c:v>6</c:v>
                </c:pt>
                <c:pt idx="4">
                  <c:v>2</c:v>
                </c:pt>
                <c:pt idx="5">
                  <c:v>2</c:v>
                </c:pt>
                <c:pt idx="6">
                  <c:v>2</c:v>
                </c:pt>
                <c:pt idx="7">
                  <c:v>2</c:v>
                </c:pt>
              </c:numCache>
            </c:numRef>
          </c:val>
          <c:extLst>
            <c:ext xmlns:c16="http://schemas.microsoft.com/office/drawing/2014/chart" uri="{C3380CC4-5D6E-409C-BE32-E72D297353CC}">
              <c16:uniqueId val="{00000010-7369-4B1F-BDC6-7380DD42976E}"/>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B1F3A"/>
                </a:solidFill>
                <a:latin typeface="+mn-lt"/>
              </a:defRPr>
            </a:pPr>
            <a:endParaRPr lang="en-US"/>
          </a:p>
        </c:txPr>
        <c:crossAx val="2094734552"/>
        <c:crosses val="autoZero"/>
        <c:auto val="1"/>
        <c:lblAlgn val="ctr"/>
        <c:lblOffset val="100"/>
        <c:noMultiLvlLbl val="1"/>
      </c:catAx>
      <c:valAx>
        <c:axId val="2094734552"/>
        <c:scaling>
          <c:orientation val="minMax"/>
          <c:max val="15"/>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84246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[0:00-0:30] THE ASK FIRST. 'Today we are asking you to approve SAR 40 million for digital adoption, tiered so that 80 percent, SAR 32 million, goes to the four regions with the widest gaps: Najran, Northern Borders, Al-Baha and Jazan, and SAR 8 million closes the gap in four regions that are nearly there. Here is why.' Stop at 30 seconds.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[0:30-1:15] SITUATION. 'Start with the good news. Nationally, Tayseer adoption is 66.2 percent, 1.2 points above our 65 percent target, across 13 regions. If we stopped at this number we would conclude nothing needs to be done.' Be upfront: the dashboard shows current adoption, not a trend, so 'on track' means 'at target today'.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[1:15-2:00] COMPLICATION. 'But averages hide gaps. Eight of our 13 regions are below 65 percent, a combined shortfall of 12.2 percentage points. Najran is furthest behind, 4.1 points short.' Orient the audience: green is at or above target, red is below.</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[2:00-4:00] EVIDENCE. Point at the chart before the conclusion. 'Najran 4.1, Northern Borders 2.3, Al-Baha 2.2, Jazan 2.0: together 10.6 of the 12.2 points, that is 87 percent of the shortfall. Al-Jouf, Hail, Tabuk and Asir are each within 0.6 points, nearly there.' So what: these two groups need different treatment.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[4:00-5:15] OPTIONS. 'We looked at three realistic ways. A: spread evenly, SAR 5M each: fair, but Al-Jouf, 0.2 points short, gets the same as Najran, 4.1 short, about 20 times more money per point. B: put everything into the widest four, SAR 10M each: leaves four regions below target. C: tiered, SAR 32M weighted to the widest four and SAR 2M to each of the rest.' Be explicit these are illustrative allocations built from dashboard gaps only.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[5:15-6:15] RECOMMENDATION. 'We recommend Option C. SAR 12.5M to Najran, 7M to Northern Borders, 6.5M to Al-Baha, 6M to Jazan, and 2M each to Al-Jouf, Hail, Tabuk and Asir. That is about SAR 3 million per point of gap in the widest four. It closes the biggest gaps first and leaves nobody behind.' Tie back: every number here traces to the gap chart on slide 4.</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[6:15-7:00] ASK + NEXT STEP. Restate the ask. 'Approve the SAR 40 million tiered allocation today. Within 30 days we validate cost per point with each region's delivery team, and at six months we re-check the dashboard against the 65 percent target.' Then stop and invite questions. Q&amp;A: acknowledge uncertainty (cost per point is an assumption) and return to the Big Idea.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tx2"/>
          </a:solidFill>
          <a:ln/>
        </p:spPr>
        <p:txBody>
          <a:bodyPr/>
          <a:lstStyle/>
          <a:p>
            <a:endParaRPr lang="en-US"/>
          </a:p>
        </p:txBody>
      </p:sp>
      <p:sp>
        <p:nvSpPr>
          <p:cNvPr id="3" name="Text 1"/>
          <p:cNvSpPr>
            <a:spLocks noGrp="1"/>
          </p:cNvSpPr>
          <p:nvPr>
            <p:ph type="title" idx="101" hasCustomPrompt="1"/>
          </p:nvPr>
        </p:nvSpPr>
        <p:spPr>
          <a:xfrm>
            <a:off x="548640" y="365760"/>
            <a:ext cx="11064240" cy="1188720"/>
          </a:xfrm>
          <a:prstGeom prst="rect">
            <a:avLst/>
          </a:prstGeom>
          <a:noFill/>
          <a:ln/>
        </p:spPr>
        <p:txBody>
          <a:bodyPr wrap="square" rtlCol="0"/>
          <a:lstStyle>
            <a:lvl1pPr marL="0" indent="0">
              <a:buNone/>
              <a:defRPr lang="en-US" sz="3000" b="1" dirty="0">
                <a:solidFill>
                  <a:schemeClr val="bg1"/>
                </a:solidFill>
              </a:defRPr>
            </a:lvl1pPr>
          </a:lstStyle>
          <a:p>
            <a:pPr marL="0" indent="0">
              <a:buNone/>
            </a:pPr>
            <a:endParaRPr lang="en-US" sz="3000" dirty="0"/>
          </a:p>
        </p:txBody>
      </p:sp>
      <p:sp>
        <p:nvSpPr>
          <p:cNvPr id="4" name="Text 1"/>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chemeClr val="accent6"/>
                </a:solidFill>
              </a:rPr>
              <a:t>Tayseer Digital Adoption  |  SDA-DSC-112 Capstone</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bg1"/>
          </a:solidFill>
          <a:ln/>
        </p:spPr>
      </p:sp>
      <p:sp>
        <p:nvSpPr>
          <p:cNvPr id="3" name="Text 1"/>
          <p:cNvSpPr>
            <a:spLocks noGrp="1"/>
          </p:cNvSpPr>
          <p:nvPr>
            <p:ph type="title" idx="101" hasCustomPrompt="1"/>
          </p:nvPr>
        </p:nvSpPr>
        <p:spPr>
          <a:xfrm>
            <a:off x="548640" y="365760"/>
            <a:ext cx="11064240" cy="1188720"/>
          </a:xfrm>
          <a:prstGeom prst="rect">
            <a:avLst/>
          </a:prstGeom>
          <a:noFill/>
          <a:ln/>
        </p:spPr>
        <p:txBody>
          <a:bodyPr wrap="square" rtlCol="0"/>
          <a:lstStyle>
            <a:lvl1pPr marL="0" indent="0">
              <a:buNone/>
              <a:defRPr lang="en-US" sz="3000" b="1" dirty="0">
                <a:solidFill>
                  <a:schemeClr val="tx1"/>
                </a:solidFill>
              </a:defRPr>
            </a:lvl1pPr>
          </a:lstStyle>
          <a:p>
            <a:pPr marL="0" indent="0">
              <a:buNone/>
            </a:pPr>
            <a:endParaRPr lang="en-US" sz="3000" dirty="0"/>
          </a:p>
        </p:txBody>
      </p:sp>
      <p:sp>
        <p:nvSpPr>
          <p:cNvPr id="4" name="Text 1"/>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chemeClr val="accent5"/>
                </a:solidFill>
              </a:rPr>
              <a:t>Tayseer Digital Adoption  |  SDA-DSC-112 Capstone</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1188720"/>
          </a:xfrm>
          <a:prstGeom prst="rect">
            <a:avLst/>
          </a:prstGeom>
          <a:noFill/>
          <a:ln/>
        </p:spPr>
        <p:txBody>
          <a:bodyPr wrap="square" lIns="0" tIns="0" rIns="0" bIns="0" rtlCol="0" anchor="t"/>
          <a:lstStyle/>
          <a:p>
            <a:pPr marL="0" indent="0">
              <a:buNone/>
            </a:pPr>
            <a:r>
              <a:rPr lang="en-US" sz="3000" b="1" dirty="0">
                <a:solidFill>
                  <a:schemeClr val="bg1"/>
                </a:solidFill>
              </a:rPr>
              <a:t>Invest SAR 40M where the gap is widest: four regions need most of it</a:t>
            </a:r>
            <a:endParaRPr lang="en-US" sz="3000" dirty="0"/>
          </a:p>
        </p:txBody>
      </p:sp>
      <p:sp>
        <p:nvSpPr>
          <p:cNvPr id="3" name="hero-stat"/>
          <p:cNvSpPr txBox="1"/>
          <p:nvPr/>
        </p:nvSpPr>
        <p:spPr>
          <a:xfrm>
            <a:off x="548640" y="1920240"/>
            <a:ext cx="5486400" cy="1371600"/>
          </a:xfrm>
          <a:prstGeom prst="rect">
            <a:avLst/>
          </a:prstGeom>
          <a:noFill/>
          <a:ln/>
        </p:spPr>
        <p:txBody>
          <a:bodyPr wrap="square" lIns="0" tIns="0" rIns="0" bIns="0" rtlCol="0" anchor="ctr"/>
          <a:lstStyle/>
          <a:p>
            <a:pPr marL="0" indent="0">
              <a:buNone/>
            </a:pPr>
            <a:r>
              <a:rPr lang="en-US" sz="8000" b="1" dirty="0">
                <a:solidFill>
                  <a:schemeClr val="accent2"/>
                </a:solidFill>
                <a:latin typeface="Cambria" pitchFamily="34" charset="0"/>
                <a:ea typeface="Cambria" pitchFamily="34" charset="-122"/>
                <a:cs typeface="Cambria" pitchFamily="34" charset="-120"/>
              </a:rPr>
              <a:t>SAR 40M</a:t>
            </a:r>
            <a:endParaRPr lang="en-US" sz="8000" dirty="0"/>
          </a:p>
        </p:txBody>
      </p:sp>
      <p:sp>
        <p:nvSpPr>
          <p:cNvPr id="4" name="hero-caption"/>
          <p:cNvSpPr txBox="1"/>
          <p:nvPr/>
        </p:nvSpPr>
        <p:spPr>
          <a:xfrm>
            <a:off x="548640" y="3383280"/>
            <a:ext cx="5303520" cy="1005840"/>
          </a:xfrm>
          <a:prstGeom prst="rect">
            <a:avLst/>
          </a:prstGeom>
          <a:noFill/>
          <a:ln/>
        </p:spPr>
        <p:txBody>
          <a:bodyPr wrap="square" lIns="0" tIns="0" rIns="0" bIns="0" rtlCol="0" anchor="t"/>
          <a:lstStyle/>
          <a:p>
            <a:pPr marL="0" indent="0">
              <a:buNone/>
            </a:pPr>
            <a:r>
              <a:rPr lang="en-US" sz="2200" dirty="0">
                <a:solidFill>
                  <a:schemeClr val="bg1"/>
                </a:solidFill>
              </a:rPr>
              <a:t>to lift lagging regions toward the 65% digital-adoption target</a:t>
            </a:r>
            <a:endParaRPr lang="en-US" sz="2200" dirty="0"/>
          </a:p>
        </p:txBody>
      </p:sp>
      <p:sp>
        <p:nvSpPr>
          <p:cNvPr id="5" name="ask-card"/>
          <p:cNvSpPr/>
          <p:nvPr/>
        </p:nvSpPr>
        <p:spPr>
          <a:xfrm>
            <a:off x="6400800" y="1737360"/>
            <a:ext cx="5212080" cy="4114800"/>
          </a:xfrm>
          <a:prstGeom prst="roundRect">
            <a:avLst>
              <a:gd name="adj" fmla="val 2667"/>
            </a:avLst>
          </a:prstGeom>
          <a:solidFill>
            <a:schemeClr val="tx1"/>
          </a:solidFill>
          <a:ln/>
        </p:spPr>
        <p:txBody>
          <a:bodyPr/>
          <a:lstStyle/>
          <a:p>
            <a:endParaRPr lang="en-US"/>
          </a:p>
        </p:txBody>
      </p:sp>
      <p:sp>
        <p:nvSpPr>
          <p:cNvPr id="6" name="ask-label"/>
          <p:cNvSpPr txBox="1"/>
          <p:nvPr/>
        </p:nvSpPr>
        <p:spPr>
          <a:xfrm>
            <a:off x="6766560" y="1920240"/>
            <a:ext cx="4480560" cy="365760"/>
          </a:xfrm>
          <a:prstGeom prst="rect">
            <a:avLst/>
          </a:prstGeom>
          <a:noFill/>
          <a:ln/>
        </p:spPr>
        <p:txBody>
          <a:bodyPr wrap="square" lIns="0" tIns="0" rIns="0" bIns="0" rtlCol="0" anchor="ctr"/>
          <a:lstStyle/>
          <a:p>
            <a:pPr marL="0" indent="0">
              <a:buNone/>
            </a:pPr>
            <a:r>
              <a:rPr lang="en-US" sz="1400" b="1" dirty="0">
                <a:solidFill>
                  <a:schemeClr val="accent2"/>
                </a:solidFill>
              </a:rPr>
              <a:t>THE ASK</a:t>
            </a:r>
            <a:endParaRPr lang="en-US" sz="1400" dirty="0"/>
          </a:p>
        </p:txBody>
      </p:sp>
      <p:sp>
        <p:nvSpPr>
          <p:cNvPr id="7" name="ask-body"/>
          <p:cNvSpPr txBox="1"/>
          <p:nvPr/>
        </p:nvSpPr>
        <p:spPr>
          <a:xfrm>
            <a:off x="6766560" y="2377440"/>
            <a:ext cx="4480560" cy="3200400"/>
          </a:xfrm>
          <a:prstGeom prst="rect">
            <a:avLst/>
          </a:prstGeom>
          <a:noFill/>
          <a:ln/>
        </p:spPr>
        <p:txBody>
          <a:bodyPr wrap="square" lIns="0" tIns="0" rIns="0" bIns="0" rtlCol="0" anchor="t"/>
          <a:lstStyle/>
          <a:p>
            <a:pPr marL="0" indent="0">
              <a:spcAft>
                <a:spcPts val="1000"/>
              </a:spcAft>
              <a:buNone/>
            </a:pPr>
            <a:r>
              <a:rPr lang="en-US" sz="2200" b="1" dirty="0">
                <a:solidFill>
                  <a:schemeClr val="bg1"/>
                </a:solidFill>
              </a:rPr>
              <a:t>Approve a tiered allocation</a:t>
            </a:r>
            <a:endParaRPr lang="en-US" sz="1800" dirty="0"/>
          </a:p>
          <a:p>
            <a:pPr marL="342900" indent="-342900">
              <a:spcAft>
                <a:spcPts val="1000"/>
              </a:spcAft>
              <a:buSzPct val="100000"/>
              <a:buChar char="•"/>
            </a:pPr>
            <a:r>
              <a:rPr lang="en-US" sz="1800" dirty="0">
                <a:solidFill>
                  <a:schemeClr val="bg1"/>
                </a:solidFill>
              </a:rPr>
              <a:t>SAR 32M to the four widest gaps: Najran, Northern Borders, Al-Baha, Jazan</a:t>
            </a:r>
            <a:endParaRPr lang="en-US" sz="1800" dirty="0"/>
          </a:p>
          <a:p>
            <a:pPr marL="342900" indent="-342900">
              <a:spcAft>
                <a:spcPts val="1000"/>
              </a:spcAft>
              <a:buSzPct val="100000"/>
              <a:buChar char="•"/>
            </a:pPr>
            <a:r>
              <a:rPr lang="en-US" sz="1800" dirty="0">
                <a:solidFill>
                  <a:schemeClr val="bg1"/>
                </a:solidFill>
              </a:rPr>
              <a:t>SAR 8M closing buffer for four near-miss regions: Al-Jouf, Hail, Tabuk, Asir</a:t>
            </a:r>
            <a:endParaRPr lang="en-US" sz="18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1</a:t>
            </a:fld>
            <a:endParaRPr lang="en-US"/>
          </a:p>
        </p:txBody>
      </p:sp>
      <p:sp>
        <p:nvSpPr>
          <p:cNvPr id="9" name="Rectangle 8">
            <a:extLst>
              <a:ext uri="{FF2B5EF4-FFF2-40B4-BE49-F238E27FC236}">
                <a16:creationId xmlns:a16="http://schemas.microsoft.com/office/drawing/2014/main" id="{C69DE3E9-1141-4C73-6B3B-BA28A6C53552}"/>
              </a:ext>
            </a:extLst>
          </p:cNvPr>
          <p:cNvSpPr/>
          <p:nvPr/>
        </p:nvSpPr>
        <p:spPr>
          <a:xfrm>
            <a:off x="1973580" y="6400800"/>
            <a:ext cx="1226820" cy="2743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315F6E6A-6E82-D5C3-4761-9A063F561A46}"/>
              </a:ext>
            </a:extLst>
          </p:cNvPr>
          <p:cNvSpPr txBox="1"/>
          <p:nvPr/>
        </p:nvSpPr>
        <p:spPr>
          <a:xfrm>
            <a:off x="2034540" y="6400800"/>
            <a:ext cx="1165860" cy="276999"/>
          </a:xfrm>
          <a:prstGeom prst="rect">
            <a:avLst/>
          </a:prstGeom>
          <a:noFill/>
        </p:spPr>
        <p:txBody>
          <a:bodyPr wrap="square" rtlCol="0">
            <a:spAutoFit/>
          </a:bodyPr>
          <a:lstStyle/>
          <a:p>
            <a:r>
              <a:rPr lang="en-US" sz="1200" dirty="0">
                <a:solidFill>
                  <a:schemeClr val="bg1"/>
                </a:solidFill>
              </a:rPr>
              <a:t>SDAIA – DV&amp;S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1188720"/>
          </a:xfrm>
          <a:prstGeom prst="rect">
            <a:avLst/>
          </a:prstGeom>
          <a:noFill/>
          <a:ln/>
        </p:spPr>
        <p:txBody>
          <a:bodyPr wrap="square" lIns="0" tIns="0" rIns="0" bIns="0" rtlCol="0" anchor="t"/>
          <a:lstStyle/>
          <a:p>
            <a:pPr marL="0" indent="0">
              <a:buNone/>
            </a:pPr>
            <a:r>
              <a:rPr lang="en-US" sz="3000" b="1" dirty="0">
                <a:solidFill>
                  <a:schemeClr val="tx1"/>
                </a:solidFill>
              </a:rPr>
              <a:t>Nationally Tayseer is on track: 66.2% adoption against a 65% target</a:t>
            </a:r>
            <a:endParaRPr lang="en-US" sz="3000" dirty="0"/>
          </a:p>
        </p:txBody>
      </p:sp>
      <p:sp>
        <p:nvSpPr>
          <p:cNvPr id="3" name="kpi-tile"/>
          <p:cNvSpPr/>
          <p:nvPr/>
        </p:nvSpPr>
        <p:spPr>
          <a:xfrm>
            <a:off x="548640" y="1737360"/>
            <a:ext cx="3840480" cy="4206240"/>
          </a:xfrm>
          <a:prstGeom prst="roundRect">
            <a:avLst>
              <a:gd name="adj" fmla="val 2857"/>
            </a:avLst>
          </a:prstGeom>
          <a:solidFill>
            <a:schemeClr val="accent1"/>
          </a:solidFill>
          <a:ln/>
        </p:spPr>
        <p:txBody>
          <a:bodyPr/>
          <a:lstStyle/>
          <a:p>
            <a:endParaRPr lang="en-US"/>
          </a:p>
        </p:txBody>
      </p:sp>
      <p:sp>
        <p:nvSpPr>
          <p:cNvPr id="4" name="kpi-value"/>
          <p:cNvSpPr txBox="1"/>
          <p:nvPr/>
        </p:nvSpPr>
        <p:spPr>
          <a:xfrm>
            <a:off x="822960" y="2286000"/>
            <a:ext cx="3291840" cy="1371600"/>
          </a:xfrm>
          <a:prstGeom prst="rect">
            <a:avLst/>
          </a:prstGeom>
          <a:noFill/>
          <a:ln/>
        </p:spPr>
        <p:txBody>
          <a:bodyPr wrap="square" lIns="0" tIns="0" rIns="0" bIns="0" rtlCol="0" anchor="ctr"/>
          <a:lstStyle/>
          <a:p>
            <a:pPr marL="0" indent="0">
              <a:buNone/>
            </a:pPr>
            <a:r>
              <a:rPr lang="en-US" sz="6600" b="1" dirty="0">
                <a:solidFill>
                  <a:schemeClr val="bg1"/>
                </a:solidFill>
                <a:latin typeface="Cambria" pitchFamily="34" charset="0"/>
                <a:ea typeface="Cambria" pitchFamily="34" charset="-122"/>
                <a:cs typeface="Cambria" pitchFamily="34" charset="-120"/>
              </a:rPr>
              <a:t>66.2%</a:t>
            </a:r>
            <a:endParaRPr lang="en-US" sz="6600" dirty="0"/>
          </a:p>
        </p:txBody>
      </p:sp>
      <p:sp>
        <p:nvSpPr>
          <p:cNvPr id="5" name="kpi-label"/>
          <p:cNvSpPr txBox="1"/>
          <p:nvPr/>
        </p:nvSpPr>
        <p:spPr>
          <a:xfrm>
            <a:off x="822960" y="3749040"/>
            <a:ext cx="3291840" cy="548640"/>
          </a:xfrm>
          <a:prstGeom prst="rect">
            <a:avLst/>
          </a:prstGeom>
          <a:noFill/>
          <a:ln/>
        </p:spPr>
        <p:txBody>
          <a:bodyPr wrap="square" lIns="0" tIns="0" rIns="0" bIns="0" rtlCol="0" anchor="t"/>
          <a:lstStyle/>
          <a:p>
            <a:pPr marL="0" indent="0">
              <a:buNone/>
            </a:pPr>
            <a:r>
              <a:rPr lang="en-US" sz="1800" dirty="0">
                <a:solidFill>
                  <a:schemeClr val="bg1"/>
                </a:solidFill>
              </a:rPr>
              <a:t>national digital adoption</a:t>
            </a:r>
            <a:endParaRPr lang="en-US" sz="1800" dirty="0"/>
          </a:p>
        </p:txBody>
      </p:sp>
      <p:sp>
        <p:nvSpPr>
          <p:cNvPr id="6" name="card-1"/>
          <p:cNvSpPr/>
          <p:nvPr/>
        </p:nvSpPr>
        <p:spPr>
          <a:xfrm>
            <a:off x="4754880" y="1737360"/>
            <a:ext cx="3291840" cy="2011680"/>
          </a:xfrm>
          <a:prstGeom prst="roundRect">
            <a:avLst>
              <a:gd name="adj" fmla="val 5455"/>
            </a:avLst>
          </a:prstGeom>
          <a:solidFill>
            <a:schemeClr val="bg2"/>
          </a:solidFill>
          <a:ln/>
        </p:spPr>
        <p:txBody>
          <a:bodyPr/>
          <a:lstStyle/>
          <a:p>
            <a:endParaRPr lang="en-US"/>
          </a:p>
        </p:txBody>
      </p:sp>
      <p:sp>
        <p:nvSpPr>
          <p:cNvPr id="7" name="stat-value-2"/>
          <p:cNvSpPr txBox="1"/>
          <p:nvPr/>
        </p:nvSpPr>
        <p:spPr>
          <a:xfrm>
            <a:off x="5029200" y="1874520"/>
            <a:ext cx="2743200" cy="1005840"/>
          </a:xfrm>
          <a:prstGeom prst="rect">
            <a:avLst/>
          </a:prstGeom>
          <a:noFill/>
          <a:ln/>
        </p:spPr>
        <p:txBody>
          <a:bodyPr wrap="square" lIns="0" tIns="0" rIns="0" bIns="0" rtlCol="0" anchor="ctr"/>
          <a:lstStyle/>
          <a:p>
            <a:pPr marL="0" indent="0">
              <a:buNone/>
            </a:pPr>
            <a:r>
              <a:rPr lang="en-US" sz="3600" b="1" dirty="0">
                <a:solidFill>
                  <a:srgbClr val="2E8B57"/>
                </a:solidFill>
                <a:latin typeface="Cambria" pitchFamily="34" charset="0"/>
                <a:ea typeface="Cambria" pitchFamily="34" charset="-122"/>
                <a:cs typeface="Cambria" pitchFamily="34" charset="-120"/>
              </a:rPr>
              <a:t>+1.2 pts</a:t>
            </a:r>
            <a:endParaRPr lang="en-US" sz="3600" dirty="0"/>
          </a:p>
        </p:txBody>
      </p:sp>
      <p:sp>
        <p:nvSpPr>
          <p:cNvPr id="8" name="stat-label-3"/>
          <p:cNvSpPr txBox="1"/>
          <p:nvPr/>
        </p:nvSpPr>
        <p:spPr>
          <a:xfrm>
            <a:off x="5029200" y="2904134"/>
            <a:ext cx="2743200" cy="724205"/>
          </a:xfrm>
          <a:prstGeom prst="rect">
            <a:avLst/>
          </a:prstGeom>
          <a:noFill/>
          <a:ln/>
        </p:spPr>
        <p:txBody>
          <a:bodyPr wrap="square" lIns="0" tIns="0" rIns="0" bIns="0" rtlCol="0" anchor="t"/>
          <a:lstStyle/>
          <a:p>
            <a:pPr marL="0" indent="0">
              <a:buNone/>
            </a:pPr>
            <a:r>
              <a:rPr lang="en-US" sz="1400" dirty="0">
                <a:solidFill>
                  <a:schemeClr val="tx1"/>
                </a:solidFill>
              </a:rPr>
              <a:t>above the 65% target</a:t>
            </a:r>
            <a:endParaRPr lang="en-US" sz="1400" dirty="0"/>
          </a:p>
        </p:txBody>
      </p:sp>
      <p:sp>
        <p:nvSpPr>
          <p:cNvPr id="9" name="card-4"/>
          <p:cNvSpPr/>
          <p:nvPr/>
        </p:nvSpPr>
        <p:spPr>
          <a:xfrm>
            <a:off x="8321040" y="1737360"/>
            <a:ext cx="3291840" cy="2011680"/>
          </a:xfrm>
          <a:prstGeom prst="roundRect">
            <a:avLst>
              <a:gd name="adj" fmla="val 5455"/>
            </a:avLst>
          </a:prstGeom>
          <a:solidFill>
            <a:schemeClr val="bg2"/>
          </a:solidFill>
          <a:ln/>
        </p:spPr>
        <p:txBody>
          <a:bodyPr/>
          <a:lstStyle/>
          <a:p>
            <a:endParaRPr lang="en-US"/>
          </a:p>
        </p:txBody>
      </p:sp>
      <p:sp>
        <p:nvSpPr>
          <p:cNvPr id="10" name="stat-value-5"/>
          <p:cNvSpPr txBox="1"/>
          <p:nvPr/>
        </p:nvSpPr>
        <p:spPr>
          <a:xfrm>
            <a:off x="8595360" y="1874520"/>
            <a:ext cx="2743200" cy="1005840"/>
          </a:xfrm>
          <a:prstGeom prst="rect">
            <a:avLst/>
          </a:prstGeom>
          <a:noFill/>
          <a:ln/>
        </p:spPr>
        <p:txBody>
          <a:bodyPr wrap="square" lIns="0" tIns="0" rIns="0" bIns="0" rtlCol="0" anchor="ctr"/>
          <a:lstStyle/>
          <a:p>
            <a:pPr marL="0" indent="0">
              <a:buNone/>
            </a:pPr>
            <a:r>
              <a:rPr lang="en-US" sz="3600" b="1" dirty="0">
                <a:solidFill>
                  <a:srgbClr val="0B7A75"/>
                </a:solidFill>
                <a:latin typeface="Cambria" pitchFamily="34" charset="0"/>
                <a:ea typeface="Cambria" pitchFamily="34" charset="-122"/>
                <a:cs typeface="Cambria" pitchFamily="34" charset="-120"/>
              </a:rPr>
              <a:t>13</a:t>
            </a:r>
            <a:endParaRPr lang="en-US" sz="3600" dirty="0"/>
          </a:p>
        </p:txBody>
      </p:sp>
      <p:sp>
        <p:nvSpPr>
          <p:cNvPr id="11" name="stat-label-6"/>
          <p:cNvSpPr txBox="1"/>
          <p:nvPr/>
        </p:nvSpPr>
        <p:spPr>
          <a:xfrm>
            <a:off x="8595360" y="2904134"/>
            <a:ext cx="2743200" cy="724205"/>
          </a:xfrm>
          <a:prstGeom prst="rect">
            <a:avLst/>
          </a:prstGeom>
          <a:noFill/>
          <a:ln/>
        </p:spPr>
        <p:txBody>
          <a:bodyPr wrap="square" lIns="0" tIns="0" rIns="0" bIns="0" rtlCol="0" anchor="t"/>
          <a:lstStyle/>
          <a:p>
            <a:pPr marL="0" indent="0">
              <a:buNone/>
            </a:pPr>
            <a:r>
              <a:rPr lang="en-US" sz="1400" dirty="0">
                <a:solidFill>
                  <a:schemeClr val="tx1"/>
                </a:solidFill>
              </a:rPr>
              <a:t>regions tracked in the Tayseer dashboard</a:t>
            </a:r>
            <a:endParaRPr lang="en-US" sz="1400" dirty="0"/>
          </a:p>
        </p:txBody>
      </p:sp>
      <p:sp>
        <p:nvSpPr>
          <p:cNvPr id="12" name="limit-card"/>
          <p:cNvSpPr/>
          <p:nvPr/>
        </p:nvSpPr>
        <p:spPr>
          <a:xfrm>
            <a:off x="4754880" y="4023360"/>
            <a:ext cx="6858000" cy="1920240"/>
          </a:xfrm>
          <a:prstGeom prst="roundRect">
            <a:avLst>
              <a:gd name="adj" fmla="val 5714"/>
            </a:avLst>
          </a:prstGeom>
          <a:solidFill>
            <a:schemeClr val="bg2"/>
          </a:solidFill>
          <a:ln/>
        </p:spPr>
        <p:txBody>
          <a:bodyPr/>
          <a:lstStyle/>
          <a:p>
            <a:endParaRPr lang="en-US"/>
          </a:p>
        </p:txBody>
      </p:sp>
      <p:sp>
        <p:nvSpPr>
          <p:cNvPr id="13" name="badge-7"/>
          <p:cNvSpPr/>
          <p:nvPr/>
        </p:nvSpPr>
        <p:spPr>
          <a:xfrm>
            <a:off x="5029200" y="4297680"/>
            <a:ext cx="457200" cy="457200"/>
          </a:xfrm>
          <a:prstGeom prst="ellipse">
            <a:avLst/>
          </a:prstGeom>
          <a:solidFill>
            <a:schemeClr val="accent2"/>
          </a:solidFill>
          <a:ln/>
        </p:spPr>
        <p:txBody>
          <a:bodyPr/>
          <a:lstStyle/>
          <a:p>
            <a:endParaRPr lang="en-US"/>
          </a:p>
        </p:txBody>
      </p:sp>
      <p:sp>
        <p:nvSpPr>
          <p:cNvPr id="14" name="badge-label-8"/>
          <p:cNvSpPr txBox="1"/>
          <p:nvPr/>
        </p:nvSpPr>
        <p:spPr>
          <a:xfrm>
            <a:off x="5029200" y="4297680"/>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rPr>
              <a:t>!</a:t>
            </a:r>
            <a:endParaRPr lang="en-US" sz="1600" dirty="0"/>
          </a:p>
        </p:txBody>
      </p:sp>
      <p:sp>
        <p:nvSpPr>
          <p:cNvPr id="15" name="limit-text"/>
          <p:cNvSpPr txBox="1"/>
          <p:nvPr/>
        </p:nvSpPr>
        <p:spPr>
          <a:xfrm>
            <a:off x="5669280" y="4206240"/>
            <a:ext cx="5669280" cy="1554480"/>
          </a:xfrm>
          <a:prstGeom prst="rect">
            <a:avLst/>
          </a:prstGeom>
          <a:noFill/>
          <a:ln/>
        </p:spPr>
        <p:txBody>
          <a:bodyPr wrap="square" lIns="0" tIns="0" rIns="0" bIns="0" rtlCol="0" anchor="t"/>
          <a:lstStyle/>
          <a:p>
            <a:pPr marL="0" indent="0">
              <a:spcAft>
                <a:spcPts val="600"/>
              </a:spcAft>
              <a:buNone/>
            </a:pPr>
            <a:r>
              <a:rPr lang="en-US" sz="1600" b="1" dirty="0">
                <a:solidFill>
                  <a:schemeClr val="tx1"/>
                </a:solidFill>
              </a:rPr>
              <a:t>Limit of this evidence</a:t>
            </a:r>
            <a:endParaRPr lang="en-US" sz="1600" dirty="0"/>
          </a:p>
          <a:p>
            <a:pPr marL="0" indent="0">
              <a:spcAft>
                <a:spcPts val="600"/>
              </a:spcAft>
              <a:buNone/>
            </a:pPr>
            <a:r>
              <a:rPr lang="en-US" sz="1500" dirty="0">
                <a:solidFill>
                  <a:schemeClr val="tx1"/>
                </a:solidFill>
              </a:rPr>
              <a:t>The dashboard shows current adoption only. We judge 'on track' against the 65% target today; a trend over time is outside this analysis.</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2</a:t>
            </a:fld>
            <a:endParaRPr lang="en-US"/>
          </a:p>
        </p:txBody>
      </p:sp>
      <p:sp>
        <p:nvSpPr>
          <p:cNvPr id="17" name="Rectangle 16">
            <a:extLst>
              <a:ext uri="{FF2B5EF4-FFF2-40B4-BE49-F238E27FC236}">
                <a16:creationId xmlns:a16="http://schemas.microsoft.com/office/drawing/2014/main" id="{A5FF09F6-9FB6-FEC1-0190-63AFAB0A4798}"/>
              </a:ext>
            </a:extLst>
          </p:cNvPr>
          <p:cNvSpPr/>
          <p:nvPr/>
        </p:nvSpPr>
        <p:spPr>
          <a:xfrm>
            <a:off x="1973580" y="6400800"/>
            <a:ext cx="1226820" cy="2743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329CCA6E-0D6B-E113-A94A-CE86C81941D8}"/>
              </a:ext>
            </a:extLst>
          </p:cNvPr>
          <p:cNvSpPr txBox="1"/>
          <p:nvPr/>
        </p:nvSpPr>
        <p:spPr>
          <a:xfrm>
            <a:off x="2034540" y="6400800"/>
            <a:ext cx="1165860" cy="276999"/>
          </a:xfrm>
          <a:prstGeom prst="rect">
            <a:avLst/>
          </a:prstGeom>
          <a:noFill/>
        </p:spPr>
        <p:txBody>
          <a:bodyPr wrap="square" rtlCol="0">
            <a:spAutoFit/>
          </a:bodyPr>
          <a:lstStyle/>
          <a:p>
            <a:r>
              <a:rPr lang="en-US" sz="1200" dirty="0">
                <a:solidFill>
                  <a:schemeClr val="bg1"/>
                </a:solidFill>
              </a:rPr>
              <a:t>SDAIA – DV&amp;S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1188720"/>
          </a:xfrm>
          <a:prstGeom prst="rect">
            <a:avLst/>
          </a:prstGeom>
          <a:noFill/>
          <a:ln/>
        </p:spPr>
        <p:txBody>
          <a:bodyPr wrap="square" lIns="0" tIns="0" rIns="0" bIns="0" rtlCol="0" anchor="t"/>
          <a:lstStyle/>
          <a:p>
            <a:pPr marL="0" indent="0">
              <a:buNone/>
            </a:pPr>
            <a:r>
              <a:rPr lang="en-US" sz="3000" b="1" dirty="0">
                <a:solidFill>
                  <a:schemeClr val="tx1"/>
                </a:solidFill>
              </a:rPr>
              <a:t>The national average hides it: 8 of 13 regions sit below 65%</a:t>
            </a:r>
            <a:endParaRPr lang="en-US" sz="3000" dirty="0"/>
          </a:p>
        </p:txBody>
      </p:sp>
      <p:sp>
        <p:nvSpPr>
          <p:cNvPr id="3" name="legend-chip-9"/>
          <p:cNvSpPr/>
          <p:nvPr/>
        </p:nvSpPr>
        <p:spPr>
          <a:xfrm>
            <a:off x="548640" y="1691640"/>
            <a:ext cx="182880" cy="182880"/>
          </a:xfrm>
          <a:prstGeom prst="rect">
            <a:avLst/>
          </a:prstGeom>
          <a:solidFill>
            <a:srgbClr val="2E8B57"/>
          </a:solidFill>
          <a:ln/>
        </p:spPr>
        <p:txBody>
          <a:bodyPr/>
          <a:lstStyle/>
          <a:p>
            <a:endParaRPr lang="en-US"/>
          </a:p>
        </p:txBody>
      </p:sp>
      <p:sp>
        <p:nvSpPr>
          <p:cNvPr id="4" name="legend-text-10"/>
          <p:cNvSpPr txBox="1"/>
          <p:nvPr/>
        </p:nvSpPr>
        <p:spPr>
          <a:xfrm>
            <a:off x="822960" y="1645920"/>
            <a:ext cx="2194560" cy="274320"/>
          </a:xfrm>
          <a:prstGeom prst="rect">
            <a:avLst/>
          </a:prstGeom>
          <a:noFill/>
          <a:ln/>
        </p:spPr>
        <p:txBody>
          <a:bodyPr wrap="square" lIns="0" tIns="0" rIns="0" bIns="0" rtlCol="0" anchor="ctr"/>
          <a:lstStyle/>
          <a:p>
            <a:pPr marL="0" indent="0">
              <a:buNone/>
            </a:pPr>
            <a:r>
              <a:rPr lang="en-US" sz="1200" dirty="0">
                <a:solidFill>
                  <a:schemeClr val="tx1"/>
                </a:solidFill>
              </a:rPr>
              <a:t>At or above 65% target</a:t>
            </a:r>
            <a:endParaRPr lang="en-US" sz="1200" dirty="0"/>
          </a:p>
        </p:txBody>
      </p:sp>
      <p:sp>
        <p:nvSpPr>
          <p:cNvPr id="5" name="legend-chip-11"/>
          <p:cNvSpPr/>
          <p:nvPr/>
        </p:nvSpPr>
        <p:spPr>
          <a:xfrm>
            <a:off x="3291840" y="1691640"/>
            <a:ext cx="182880" cy="182880"/>
          </a:xfrm>
          <a:prstGeom prst="rect">
            <a:avLst/>
          </a:prstGeom>
          <a:solidFill>
            <a:srgbClr val="C0392B"/>
          </a:solidFill>
          <a:ln/>
        </p:spPr>
        <p:txBody>
          <a:bodyPr/>
          <a:lstStyle/>
          <a:p>
            <a:endParaRPr lang="en-US"/>
          </a:p>
        </p:txBody>
      </p:sp>
      <p:sp>
        <p:nvSpPr>
          <p:cNvPr id="6" name="legend-text-12"/>
          <p:cNvSpPr txBox="1"/>
          <p:nvPr/>
        </p:nvSpPr>
        <p:spPr>
          <a:xfrm>
            <a:off x="3566160" y="1645920"/>
            <a:ext cx="1463040" cy="274320"/>
          </a:xfrm>
          <a:prstGeom prst="rect">
            <a:avLst/>
          </a:prstGeom>
          <a:noFill/>
          <a:ln/>
        </p:spPr>
        <p:txBody>
          <a:bodyPr wrap="square" lIns="0" tIns="0" rIns="0" bIns="0" rtlCol="0" anchor="ctr"/>
          <a:lstStyle/>
          <a:p>
            <a:pPr marL="0" indent="0">
              <a:buNone/>
            </a:pPr>
            <a:r>
              <a:rPr lang="en-US" sz="1200" dirty="0">
                <a:solidFill>
                  <a:schemeClr val="tx1"/>
                </a:solidFill>
              </a:rPr>
              <a:t>Below target</a:t>
            </a:r>
            <a:endParaRPr lang="en-US" sz="1200" dirty="0"/>
          </a:p>
        </p:txBody>
      </p:sp>
      <p:graphicFrame>
        <p:nvGraphicFramePr>
          <p:cNvPr id="7" name="Chart 0"/>
          <p:cNvGraphicFramePr/>
          <p:nvPr/>
        </p:nvGraphicFramePr>
        <p:xfrm>
          <a:off x="548640" y="2011680"/>
          <a:ext cx="6766560" cy="4297680"/>
        </p:xfrm>
        <a:graphic>
          <a:graphicData uri="http://schemas.openxmlformats.org/drawingml/2006/chart">
            <c:chart xmlns:c="http://schemas.openxmlformats.org/drawingml/2006/chart" xmlns:r="http://schemas.openxmlformats.org/officeDocument/2006/relationships" r:id="rId3"/>
          </a:graphicData>
        </a:graphic>
      </p:graphicFrame>
      <p:sp>
        <p:nvSpPr>
          <p:cNvPr id="8" name="card-13"/>
          <p:cNvSpPr/>
          <p:nvPr/>
        </p:nvSpPr>
        <p:spPr>
          <a:xfrm>
            <a:off x="7772400" y="1737360"/>
            <a:ext cx="3840480" cy="1371600"/>
          </a:xfrm>
          <a:prstGeom prst="roundRect">
            <a:avLst>
              <a:gd name="adj" fmla="val 8000"/>
            </a:avLst>
          </a:prstGeom>
          <a:solidFill>
            <a:schemeClr val="bg2"/>
          </a:solidFill>
          <a:ln/>
        </p:spPr>
        <p:txBody>
          <a:bodyPr/>
          <a:lstStyle/>
          <a:p>
            <a:endParaRPr lang="en-US"/>
          </a:p>
        </p:txBody>
      </p:sp>
      <p:sp>
        <p:nvSpPr>
          <p:cNvPr id="9" name="stat-value-14"/>
          <p:cNvSpPr txBox="1"/>
          <p:nvPr/>
        </p:nvSpPr>
        <p:spPr>
          <a:xfrm>
            <a:off x="8046720" y="1874520"/>
            <a:ext cx="3291840" cy="685800"/>
          </a:xfrm>
          <a:prstGeom prst="rect">
            <a:avLst/>
          </a:prstGeom>
          <a:noFill/>
          <a:ln/>
        </p:spPr>
        <p:txBody>
          <a:bodyPr wrap="square" lIns="0" tIns="0" rIns="0" bIns="0" rtlCol="0" anchor="ctr"/>
          <a:lstStyle/>
          <a:p>
            <a:pPr marL="0" indent="0">
              <a:buNone/>
            </a:pPr>
            <a:r>
              <a:rPr lang="en-US" sz="3600" b="1" dirty="0">
                <a:solidFill>
                  <a:srgbClr val="C0392B"/>
                </a:solidFill>
                <a:latin typeface="Cambria" pitchFamily="34" charset="0"/>
                <a:ea typeface="Cambria" pitchFamily="34" charset="-122"/>
                <a:cs typeface="Cambria" pitchFamily="34" charset="-120"/>
              </a:rPr>
              <a:t>8 of 13</a:t>
            </a:r>
            <a:endParaRPr lang="en-US" sz="3600" dirty="0"/>
          </a:p>
        </p:txBody>
      </p:sp>
      <p:sp>
        <p:nvSpPr>
          <p:cNvPr id="10" name="stat-label-15"/>
          <p:cNvSpPr txBox="1"/>
          <p:nvPr/>
        </p:nvSpPr>
        <p:spPr>
          <a:xfrm>
            <a:off x="8046720" y="2532888"/>
            <a:ext cx="3291840" cy="493776"/>
          </a:xfrm>
          <a:prstGeom prst="rect">
            <a:avLst/>
          </a:prstGeom>
          <a:noFill/>
          <a:ln/>
        </p:spPr>
        <p:txBody>
          <a:bodyPr wrap="square" lIns="0" tIns="0" rIns="0" bIns="0" rtlCol="0" anchor="t"/>
          <a:lstStyle/>
          <a:p>
            <a:pPr marL="0" indent="0">
              <a:buNone/>
            </a:pPr>
            <a:r>
              <a:rPr lang="en-US" sz="1400" dirty="0">
                <a:solidFill>
                  <a:schemeClr val="tx1"/>
                </a:solidFill>
              </a:rPr>
              <a:t>regions are below the 65% target</a:t>
            </a:r>
            <a:endParaRPr lang="en-US" sz="1400" dirty="0"/>
          </a:p>
        </p:txBody>
      </p:sp>
      <p:sp>
        <p:nvSpPr>
          <p:cNvPr id="11" name="card-16"/>
          <p:cNvSpPr/>
          <p:nvPr/>
        </p:nvSpPr>
        <p:spPr>
          <a:xfrm>
            <a:off x="7772400" y="3291840"/>
            <a:ext cx="3840480" cy="1371600"/>
          </a:xfrm>
          <a:prstGeom prst="roundRect">
            <a:avLst>
              <a:gd name="adj" fmla="val 8000"/>
            </a:avLst>
          </a:prstGeom>
          <a:solidFill>
            <a:schemeClr val="bg2"/>
          </a:solidFill>
          <a:ln/>
        </p:spPr>
        <p:txBody>
          <a:bodyPr/>
          <a:lstStyle/>
          <a:p>
            <a:endParaRPr lang="en-US"/>
          </a:p>
        </p:txBody>
      </p:sp>
      <p:sp>
        <p:nvSpPr>
          <p:cNvPr id="12" name="stat-value-17"/>
          <p:cNvSpPr txBox="1"/>
          <p:nvPr/>
        </p:nvSpPr>
        <p:spPr>
          <a:xfrm>
            <a:off x="8046720" y="3429000"/>
            <a:ext cx="3291840" cy="685800"/>
          </a:xfrm>
          <a:prstGeom prst="rect">
            <a:avLst/>
          </a:prstGeom>
          <a:noFill/>
          <a:ln/>
        </p:spPr>
        <p:txBody>
          <a:bodyPr wrap="square" lIns="0" tIns="0" rIns="0" bIns="0" rtlCol="0" anchor="ctr"/>
          <a:lstStyle/>
          <a:p>
            <a:pPr marL="0" indent="0">
              <a:buNone/>
            </a:pPr>
            <a:r>
              <a:rPr lang="en-US" sz="3600" b="1" dirty="0">
                <a:solidFill>
                  <a:srgbClr val="C0392B"/>
                </a:solidFill>
                <a:latin typeface="Cambria" pitchFamily="34" charset="0"/>
                <a:ea typeface="Cambria" pitchFamily="34" charset="-122"/>
                <a:cs typeface="Cambria" pitchFamily="34" charset="-120"/>
              </a:rPr>
              <a:t>12.2 pts</a:t>
            </a:r>
            <a:endParaRPr lang="en-US" sz="3600" dirty="0"/>
          </a:p>
        </p:txBody>
      </p:sp>
      <p:sp>
        <p:nvSpPr>
          <p:cNvPr id="13" name="stat-label-18"/>
          <p:cNvSpPr txBox="1"/>
          <p:nvPr/>
        </p:nvSpPr>
        <p:spPr>
          <a:xfrm>
            <a:off x="8046720" y="4087368"/>
            <a:ext cx="3291840" cy="493776"/>
          </a:xfrm>
          <a:prstGeom prst="rect">
            <a:avLst/>
          </a:prstGeom>
          <a:noFill/>
          <a:ln/>
        </p:spPr>
        <p:txBody>
          <a:bodyPr wrap="square" lIns="0" tIns="0" rIns="0" bIns="0" rtlCol="0" anchor="t"/>
          <a:lstStyle/>
          <a:p>
            <a:pPr marL="0" indent="0">
              <a:buNone/>
            </a:pPr>
            <a:r>
              <a:rPr lang="en-US" sz="1400" dirty="0">
                <a:solidFill>
                  <a:schemeClr val="tx1"/>
                </a:solidFill>
              </a:rPr>
              <a:t>combined shortfall to target</a:t>
            </a:r>
            <a:endParaRPr lang="en-US" sz="1400" dirty="0"/>
          </a:p>
        </p:txBody>
      </p:sp>
      <p:sp>
        <p:nvSpPr>
          <p:cNvPr id="14" name="card-19"/>
          <p:cNvSpPr/>
          <p:nvPr/>
        </p:nvSpPr>
        <p:spPr>
          <a:xfrm>
            <a:off x="7772400" y="4846320"/>
            <a:ext cx="3840480" cy="1371600"/>
          </a:xfrm>
          <a:prstGeom prst="roundRect">
            <a:avLst>
              <a:gd name="adj" fmla="val 8000"/>
            </a:avLst>
          </a:prstGeom>
          <a:solidFill>
            <a:schemeClr val="bg2"/>
          </a:solidFill>
          <a:ln/>
        </p:spPr>
        <p:txBody>
          <a:bodyPr/>
          <a:lstStyle/>
          <a:p>
            <a:endParaRPr lang="en-US"/>
          </a:p>
        </p:txBody>
      </p:sp>
      <p:sp>
        <p:nvSpPr>
          <p:cNvPr id="15" name="stat-value-20"/>
          <p:cNvSpPr txBox="1"/>
          <p:nvPr/>
        </p:nvSpPr>
        <p:spPr>
          <a:xfrm>
            <a:off x="8046720" y="4983480"/>
            <a:ext cx="3291840" cy="685800"/>
          </a:xfrm>
          <a:prstGeom prst="rect">
            <a:avLst/>
          </a:prstGeom>
          <a:noFill/>
          <a:ln/>
        </p:spPr>
        <p:txBody>
          <a:bodyPr wrap="square" lIns="0" tIns="0" rIns="0" bIns="0" rtlCol="0" anchor="ctr"/>
          <a:lstStyle/>
          <a:p>
            <a:pPr marL="0" indent="0">
              <a:buNone/>
            </a:pPr>
            <a:r>
              <a:rPr lang="en-US" sz="3600" b="1" dirty="0">
                <a:solidFill>
                  <a:srgbClr val="C0392B"/>
                </a:solidFill>
                <a:latin typeface="Cambria" pitchFamily="34" charset="0"/>
                <a:ea typeface="Cambria" pitchFamily="34" charset="-122"/>
                <a:cs typeface="Cambria" pitchFamily="34" charset="-120"/>
              </a:rPr>
              <a:t>4.1 pts</a:t>
            </a:r>
            <a:endParaRPr lang="en-US" sz="3600" dirty="0"/>
          </a:p>
        </p:txBody>
      </p:sp>
      <p:sp>
        <p:nvSpPr>
          <p:cNvPr id="16" name="stat-label-21"/>
          <p:cNvSpPr txBox="1"/>
          <p:nvPr/>
        </p:nvSpPr>
        <p:spPr>
          <a:xfrm>
            <a:off x="8046720" y="5641848"/>
            <a:ext cx="3291840" cy="493776"/>
          </a:xfrm>
          <a:prstGeom prst="rect">
            <a:avLst/>
          </a:prstGeom>
          <a:noFill/>
          <a:ln/>
        </p:spPr>
        <p:txBody>
          <a:bodyPr wrap="square" lIns="0" tIns="0" rIns="0" bIns="0" rtlCol="0" anchor="t"/>
          <a:lstStyle/>
          <a:p>
            <a:pPr marL="0" indent="0">
              <a:buNone/>
            </a:pPr>
            <a:r>
              <a:rPr lang="en-US" sz="1400" dirty="0">
                <a:solidFill>
                  <a:schemeClr val="tx1"/>
                </a:solidFill>
              </a:rPr>
              <a:t>Najran, the widest single gap</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3</a:t>
            </a:fld>
            <a:endParaRPr lang="en-US"/>
          </a:p>
        </p:txBody>
      </p:sp>
      <p:sp>
        <p:nvSpPr>
          <p:cNvPr id="18" name="Rectangle 17">
            <a:extLst>
              <a:ext uri="{FF2B5EF4-FFF2-40B4-BE49-F238E27FC236}">
                <a16:creationId xmlns:a16="http://schemas.microsoft.com/office/drawing/2014/main" id="{6C0CC05A-1467-EF74-8D60-A989883823E3}"/>
              </a:ext>
            </a:extLst>
          </p:cNvPr>
          <p:cNvSpPr/>
          <p:nvPr/>
        </p:nvSpPr>
        <p:spPr>
          <a:xfrm>
            <a:off x="1973580" y="6400800"/>
            <a:ext cx="1226820" cy="2743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F0F862E-C07A-934B-CC08-7B9C958B18B5}"/>
              </a:ext>
            </a:extLst>
          </p:cNvPr>
          <p:cNvSpPr txBox="1"/>
          <p:nvPr/>
        </p:nvSpPr>
        <p:spPr>
          <a:xfrm>
            <a:off x="2034540" y="6400800"/>
            <a:ext cx="1165860" cy="276999"/>
          </a:xfrm>
          <a:prstGeom prst="rect">
            <a:avLst/>
          </a:prstGeom>
          <a:noFill/>
        </p:spPr>
        <p:txBody>
          <a:bodyPr wrap="square" rtlCol="0">
            <a:spAutoFit/>
          </a:bodyPr>
          <a:lstStyle/>
          <a:p>
            <a:r>
              <a:rPr lang="en-US" sz="1200" dirty="0">
                <a:solidFill>
                  <a:schemeClr val="bg1"/>
                </a:solidFill>
              </a:rPr>
              <a:t>SDAIA – DV&amp;S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1188720"/>
          </a:xfrm>
          <a:prstGeom prst="rect">
            <a:avLst/>
          </a:prstGeom>
          <a:noFill/>
          <a:ln/>
        </p:spPr>
        <p:txBody>
          <a:bodyPr wrap="square" lIns="0" tIns="0" rIns="0" bIns="0" rtlCol="0" anchor="t"/>
          <a:lstStyle/>
          <a:p>
            <a:pPr marL="0" indent="0">
              <a:buNone/>
            </a:pPr>
            <a:r>
              <a:rPr lang="en-US" sz="3000" b="1" dirty="0">
                <a:solidFill>
                  <a:schemeClr val="tx1"/>
                </a:solidFill>
              </a:rPr>
              <a:t>Four regions hold 87% of the shortfall, led by Najran at 4.1 points</a:t>
            </a:r>
            <a:endParaRPr lang="en-US" sz="3000" dirty="0"/>
          </a:p>
        </p:txBody>
      </p:sp>
      <p:sp>
        <p:nvSpPr>
          <p:cNvPr id="3" name="legend-chip-22"/>
          <p:cNvSpPr/>
          <p:nvPr/>
        </p:nvSpPr>
        <p:spPr>
          <a:xfrm>
            <a:off x="548640" y="1691640"/>
            <a:ext cx="182880" cy="182880"/>
          </a:xfrm>
          <a:prstGeom prst="rect">
            <a:avLst/>
          </a:prstGeom>
          <a:solidFill>
            <a:srgbClr val="C0392B"/>
          </a:solidFill>
          <a:ln/>
        </p:spPr>
        <p:txBody>
          <a:bodyPr/>
          <a:lstStyle/>
          <a:p>
            <a:endParaRPr lang="en-US"/>
          </a:p>
        </p:txBody>
      </p:sp>
      <p:sp>
        <p:nvSpPr>
          <p:cNvPr id="4" name="legend-text-23"/>
          <p:cNvSpPr txBox="1"/>
          <p:nvPr/>
        </p:nvSpPr>
        <p:spPr>
          <a:xfrm>
            <a:off x="822960" y="1645920"/>
            <a:ext cx="2560320" cy="274320"/>
          </a:xfrm>
          <a:prstGeom prst="rect">
            <a:avLst/>
          </a:prstGeom>
          <a:noFill/>
          <a:ln/>
        </p:spPr>
        <p:txBody>
          <a:bodyPr wrap="square" lIns="0" tIns="0" rIns="0" bIns="0" rtlCol="0" anchor="ctr"/>
          <a:lstStyle/>
          <a:p>
            <a:pPr marL="0" indent="0">
              <a:buNone/>
            </a:pPr>
            <a:r>
              <a:rPr lang="en-US" sz="1200" dirty="0">
                <a:solidFill>
                  <a:schemeClr val="tx1"/>
                </a:solidFill>
              </a:rPr>
              <a:t>Widest four gaps (2+ pts)</a:t>
            </a:r>
            <a:endParaRPr lang="en-US" sz="1200" dirty="0"/>
          </a:p>
        </p:txBody>
      </p:sp>
      <p:sp>
        <p:nvSpPr>
          <p:cNvPr id="5" name="legend-chip-24"/>
          <p:cNvSpPr/>
          <p:nvPr/>
        </p:nvSpPr>
        <p:spPr>
          <a:xfrm>
            <a:off x="3657600" y="1691640"/>
            <a:ext cx="182880" cy="182880"/>
          </a:xfrm>
          <a:prstGeom prst="rect">
            <a:avLst/>
          </a:prstGeom>
          <a:solidFill>
            <a:srgbClr val="F2A541"/>
          </a:solidFill>
          <a:ln/>
        </p:spPr>
        <p:txBody>
          <a:bodyPr/>
          <a:lstStyle/>
          <a:p>
            <a:endParaRPr lang="en-US"/>
          </a:p>
        </p:txBody>
      </p:sp>
      <p:sp>
        <p:nvSpPr>
          <p:cNvPr id="6" name="legend-text-25"/>
          <p:cNvSpPr txBox="1"/>
          <p:nvPr/>
        </p:nvSpPr>
        <p:spPr>
          <a:xfrm>
            <a:off x="3931920" y="1645920"/>
            <a:ext cx="2194560" cy="274320"/>
          </a:xfrm>
          <a:prstGeom prst="rect">
            <a:avLst/>
          </a:prstGeom>
          <a:noFill/>
          <a:ln/>
        </p:spPr>
        <p:txBody>
          <a:bodyPr wrap="square" lIns="0" tIns="0" rIns="0" bIns="0" rtlCol="0" anchor="ctr"/>
          <a:lstStyle/>
          <a:p>
            <a:pPr marL="0" indent="0">
              <a:buNone/>
            </a:pPr>
            <a:r>
              <a:rPr lang="en-US" sz="1200" dirty="0">
                <a:solidFill>
                  <a:schemeClr val="tx1"/>
                </a:solidFill>
              </a:rPr>
              <a:t>Near-miss (under 1 pt)</a:t>
            </a:r>
            <a:endParaRPr lang="en-US" sz="1200" dirty="0"/>
          </a:p>
        </p:txBody>
      </p:sp>
      <p:graphicFrame>
        <p:nvGraphicFramePr>
          <p:cNvPr id="7" name="Chart 0"/>
          <p:cNvGraphicFramePr/>
          <p:nvPr/>
        </p:nvGraphicFramePr>
        <p:xfrm>
          <a:off x="548640" y="2011680"/>
          <a:ext cx="6766560" cy="3840480"/>
        </p:xfrm>
        <a:graphic>
          <a:graphicData uri="http://schemas.openxmlformats.org/drawingml/2006/chart">
            <c:chart xmlns:c="http://schemas.openxmlformats.org/drawingml/2006/chart" xmlns:r="http://schemas.openxmlformats.org/officeDocument/2006/relationships" r:id="rId3"/>
          </a:graphicData>
        </a:graphic>
      </p:graphicFrame>
      <p:sp>
        <p:nvSpPr>
          <p:cNvPr id="8" name="chart-footnote"/>
          <p:cNvSpPr txBox="1"/>
          <p:nvPr/>
        </p:nvSpPr>
        <p:spPr>
          <a:xfrm>
            <a:off x="548640" y="5943600"/>
            <a:ext cx="6766560" cy="274320"/>
          </a:xfrm>
          <a:prstGeom prst="rect">
            <a:avLst/>
          </a:prstGeom>
          <a:noFill/>
          <a:ln/>
        </p:spPr>
        <p:txBody>
          <a:bodyPr wrap="square" lIns="0" tIns="0" rIns="0" bIns="0" rtlCol="0" anchor="ctr"/>
          <a:lstStyle/>
          <a:p>
            <a:pPr marL="0" indent="0">
              <a:buNone/>
            </a:pPr>
            <a:r>
              <a:rPr lang="en-US" sz="1200" dirty="0">
                <a:solidFill>
                  <a:schemeClr val="accent5"/>
                </a:solidFill>
              </a:rPr>
              <a:t>Gap = 65% target minus current adoption, in percentage points.</a:t>
            </a:r>
            <a:endParaRPr lang="en-US" sz="1200" dirty="0"/>
          </a:p>
        </p:txBody>
      </p:sp>
      <p:sp>
        <p:nvSpPr>
          <p:cNvPr id="9" name="evidence-card-1"/>
          <p:cNvSpPr/>
          <p:nvPr/>
        </p:nvSpPr>
        <p:spPr>
          <a:xfrm>
            <a:off x="7772400" y="1737360"/>
            <a:ext cx="3840480" cy="2103120"/>
          </a:xfrm>
          <a:prstGeom prst="roundRect">
            <a:avLst>
              <a:gd name="adj" fmla="val 5217"/>
            </a:avLst>
          </a:prstGeom>
          <a:solidFill>
            <a:schemeClr val="accent3"/>
          </a:solidFill>
          <a:ln/>
        </p:spPr>
        <p:txBody>
          <a:bodyPr/>
          <a:lstStyle/>
          <a:p>
            <a:endParaRPr lang="en-US"/>
          </a:p>
        </p:txBody>
      </p:sp>
      <p:sp>
        <p:nvSpPr>
          <p:cNvPr id="10" name="evidence-stat-1"/>
          <p:cNvSpPr txBox="1"/>
          <p:nvPr/>
        </p:nvSpPr>
        <p:spPr>
          <a:xfrm>
            <a:off x="8046720" y="1828800"/>
            <a:ext cx="3291840" cy="1097280"/>
          </a:xfrm>
          <a:prstGeom prst="rect">
            <a:avLst/>
          </a:prstGeom>
          <a:noFill/>
          <a:ln/>
        </p:spPr>
        <p:txBody>
          <a:bodyPr wrap="square" lIns="0" tIns="0" rIns="0" bIns="0" rtlCol="0" anchor="ctr"/>
          <a:lstStyle/>
          <a:p>
            <a:pPr marL="0" indent="0">
              <a:buNone/>
            </a:pPr>
            <a:r>
              <a:rPr lang="en-US" sz="5400" b="1" dirty="0">
                <a:solidFill>
                  <a:schemeClr val="bg1"/>
                </a:solidFill>
                <a:latin typeface="Cambria" pitchFamily="34" charset="0"/>
                <a:ea typeface="Cambria" pitchFamily="34" charset="-122"/>
                <a:cs typeface="Cambria" pitchFamily="34" charset="-120"/>
              </a:rPr>
              <a:t>87%</a:t>
            </a:r>
            <a:endParaRPr lang="en-US" sz="5400" dirty="0"/>
          </a:p>
        </p:txBody>
      </p:sp>
      <p:sp>
        <p:nvSpPr>
          <p:cNvPr id="11" name="evidence-label-1"/>
          <p:cNvSpPr txBox="1"/>
          <p:nvPr/>
        </p:nvSpPr>
        <p:spPr>
          <a:xfrm>
            <a:off x="8046720" y="2926080"/>
            <a:ext cx="3291840" cy="822960"/>
          </a:xfrm>
          <a:prstGeom prst="rect">
            <a:avLst/>
          </a:prstGeom>
          <a:noFill/>
          <a:ln/>
        </p:spPr>
        <p:txBody>
          <a:bodyPr wrap="square" lIns="0" tIns="0" rIns="0" bIns="0" rtlCol="0" anchor="t"/>
          <a:lstStyle/>
          <a:p>
            <a:pPr marL="0" indent="0">
              <a:buNone/>
            </a:pPr>
            <a:r>
              <a:rPr lang="en-US" sz="1600" dirty="0">
                <a:solidFill>
                  <a:schemeClr val="bg1"/>
                </a:solidFill>
              </a:rPr>
              <a:t>of the combined shortfall sits in just four regions</a:t>
            </a:r>
            <a:endParaRPr lang="en-US" sz="1600" dirty="0"/>
          </a:p>
        </p:txBody>
      </p:sp>
      <p:sp>
        <p:nvSpPr>
          <p:cNvPr id="12" name="evidence-card-2"/>
          <p:cNvSpPr/>
          <p:nvPr/>
        </p:nvSpPr>
        <p:spPr>
          <a:xfrm>
            <a:off x="7772400" y="4114800"/>
            <a:ext cx="3840480" cy="2103120"/>
          </a:xfrm>
          <a:prstGeom prst="roundRect">
            <a:avLst>
              <a:gd name="adj" fmla="val 5217"/>
            </a:avLst>
          </a:prstGeom>
          <a:solidFill>
            <a:schemeClr val="bg2"/>
          </a:solidFill>
          <a:ln/>
        </p:spPr>
        <p:txBody>
          <a:bodyPr/>
          <a:lstStyle/>
          <a:p>
            <a:endParaRPr lang="en-US"/>
          </a:p>
        </p:txBody>
      </p:sp>
      <p:sp>
        <p:nvSpPr>
          <p:cNvPr id="13" name="evidence-stat-2"/>
          <p:cNvSpPr txBox="1"/>
          <p:nvPr/>
        </p:nvSpPr>
        <p:spPr>
          <a:xfrm>
            <a:off x="8046720" y="4206240"/>
            <a:ext cx="3291840" cy="1097280"/>
          </a:xfrm>
          <a:prstGeom prst="rect">
            <a:avLst/>
          </a:prstGeom>
          <a:noFill/>
          <a:ln/>
        </p:spPr>
        <p:txBody>
          <a:bodyPr wrap="square" lIns="0" tIns="0" rIns="0" bIns="0" rtlCol="0" anchor="ctr"/>
          <a:lstStyle/>
          <a:p>
            <a:pPr marL="0" indent="0">
              <a:buNone/>
            </a:pPr>
            <a:r>
              <a:rPr lang="en-US" sz="5400" b="1" dirty="0">
                <a:solidFill>
                  <a:schemeClr val="tx1"/>
                </a:solidFill>
                <a:latin typeface="Cambria" pitchFamily="34" charset="0"/>
                <a:ea typeface="Cambria" pitchFamily="34" charset="-122"/>
                <a:cs typeface="Cambria" pitchFamily="34" charset="-120"/>
              </a:rPr>
              <a:t>&lt; 1 pt</a:t>
            </a:r>
            <a:endParaRPr lang="en-US" sz="5400" dirty="0"/>
          </a:p>
        </p:txBody>
      </p:sp>
      <p:sp>
        <p:nvSpPr>
          <p:cNvPr id="14" name="evidence-label-2"/>
          <p:cNvSpPr txBox="1"/>
          <p:nvPr/>
        </p:nvSpPr>
        <p:spPr>
          <a:xfrm>
            <a:off x="8046720" y="5303520"/>
            <a:ext cx="3291840" cy="822960"/>
          </a:xfrm>
          <a:prstGeom prst="rect">
            <a:avLst/>
          </a:prstGeom>
          <a:noFill/>
          <a:ln/>
        </p:spPr>
        <p:txBody>
          <a:bodyPr wrap="square" lIns="0" tIns="0" rIns="0" bIns="0" rtlCol="0" anchor="t"/>
          <a:lstStyle/>
          <a:p>
            <a:pPr marL="0" indent="0">
              <a:buNone/>
            </a:pPr>
            <a:r>
              <a:rPr lang="en-US" sz="1600" dirty="0">
                <a:solidFill>
                  <a:schemeClr val="tx1"/>
                </a:solidFill>
              </a:rPr>
              <a:t>is all the other four regions need to reach target</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4</a:t>
            </a:fld>
            <a:endParaRPr lang="en-US"/>
          </a:p>
        </p:txBody>
      </p:sp>
      <p:sp>
        <p:nvSpPr>
          <p:cNvPr id="16" name="Rectangle 15">
            <a:extLst>
              <a:ext uri="{FF2B5EF4-FFF2-40B4-BE49-F238E27FC236}">
                <a16:creationId xmlns:a16="http://schemas.microsoft.com/office/drawing/2014/main" id="{1A4DA45E-0B99-29A7-0A89-7D8E91FDBBF1}"/>
              </a:ext>
            </a:extLst>
          </p:cNvPr>
          <p:cNvSpPr/>
          <p:nvPr/>
        </p:nvSpPr>
        <p:spPr>
          <a:xfrm>
            <a:off x="1973580" y="6400800"/>
            <a:ext cx="1226820" cy="2743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51C475B2-B5A0-D1E3-D4E3-78274A0664FE}"/>
              </a:ext>
            </a:extLst>
          </p:cNvPr>
          <p:cNvSpPr txBox="1"/>
          <p:nvPr/>
        </p:nvSpPr>
        <p:spPr>
          <a:xfrm>
            <a:off x="2034540" y="6400800"/>
            <a:ext cx="1165860" cy="276999"/>
          </a:xfrm>
          <a:prstGeom prst="rect">
            <a:avLst/>
          </a:prstGeom>
          <a:noFill/>
        </p:spPr>
        <p:txBody>
          <a:bodyPr wrap="square" rtlCol="0">
            <a:spAutoFit/>
          </a:bodyPr>
          <a:lstStyle/>
          <a:p>
            <a:r>
              <a:rPr lang="en-US" sz="1200" dirty="0">
                <a:solidFill>
                  <a:schemeClr val="bg1"/>
                </a:solidFill>
              </a:rPr>
              <a:t>SDAIA – DV&amp;S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1188720"/>
          </a:xfrm>
          <a:prstGeom prst="rect">
            <a:avLst/>
          </a:prstGeom>
          <a:noFill/>
          <a:ln/>
        </p:spPr>
        <p:txBody>
          <a:bodyPr wrap="square" lIns="0" tIns="0" rIns="0" bIns="0" rtlCol="0" anchor="t"/>
          <a:lstStyle/>
          <a:p>
            <a:pPr marL="0" indent="0">
              <a:buNone/>
            </a:pPr>
            <a:r>
              <a:rPr lang="en-US" sz="3000" b="1" dirty="0">
                <a:solidFill>
                  <a:schemeClr val="tx1"/>
                </a:solidFill>
              </a:rPr>
              <a:t>Three ways to spend SAR 40M: only a tiered split matches money to need</a:t>
            </a:r>
            <a:endParaRPr lang="en-US" sz="3000" dirty="0"/>
          </a:p>
        </p:txBody>
      </p:sp>
      <p:sp>
        <p:nvSpPr>
          <p:cNvPr id="3" name="option-card-A"/>
          <p:cNvSpPr/>
          <p:nvPr/>
        </p:nvSpPr>
        <p:spPr>
          <a:xfrm>
            <a:off x="548640" y="1737360"/>
            <a:ext cx="3520440" cy="4206240"/>
          </a:xfrm>
          <a:prstGeom prst="roundRect">
            <a:avLst>
              <a:gd name="adj" fmla="val 3117"/>
            </a:avLst>
          </a:prstGeom>
          <a:solidFill>
            <a:schemeClr val="bg2"/>
          </a:solidFill>
          <a:ln/>
        </p:spPr>
        <p:txBody>
          <a:bodyPr/>
          <a:lstStyle/>
          <a:p>
            <a:endParaRPr lang="en-US"/>
          </a:p>
        </p:txBody>
      </p:sp>
      <p:sp>
        <p:nvSpPr>
          <p:cNvPr id="4" name="badge-26"/>
          <p:cNvSpPr/>
          <p:nvPr/>
        </p:nvSpPr>
        <p:spPr>
          <a:xfrm>
            <a:off x="822960" y="1965960"/>
            <a:ext cx="502920" cy="502920"/>
          </a:xfrm>
          <a:prstGeom prst="ellipse">
            <a:avLst/>
          </a:prstGeom>
          <a:solidFill>
            <a:schemeClr val="accent1"/>
          </a:solidFill>
          <a:ln/>
        </p:spPr>
        <p:txBody>
          <a:bodyPr/>
          <a:lstStyle/>
          <a:p>
            <a:endParaRPr lang="en-US"/>
          </a:p>
        </p:txBody>
      </p:sp>
      <p:sp>
        <p:nvSpPr>
          <p:cNvPr id="5" name="badge-label-27"/>
          <p:cNvSpPr txBox="1"/>
          <p:nvPr/>
        </p:nvSpPr>
        <p:spPr>
          <a:xfrm>
            <a:off x="822960" y="1965960"/>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A</a:t>
            </a:r>
            <a:endParaRPr lang="en-US" sz="1600" dirty="0"/>
          </a:p>
        </p:txBody>
      </p:sp>
      <p:sp>
        <p:nvSpPr>
          <p:cNvPr id="6" name="option-text-A"/>
          <p:cNvSpPr txBox="1"/>
          <p:nvPr/>
        </p:nvSpPr>
        <p:spPr>
          <a:xfrm>
            <a:off x="822960" y="2697480"/>
            <a:ext cx="3017520" cy="3108960"/>
          </a:xfrm>
          <a:prstGeom prst="rect">
            <a:avLst/>
          </a:prstGeom>
          <a:noFill/>
          <a:ln/>
        </p:spPr>
        <p:txBody>
          <a:bodyPr wrap="square" lIns="0" tIns="0" rIns="0" bIns="0" rtlCol="0" anchor="t"/>
          <a:lstStyle/>
          <a:p>
            <a:pPr marL="0" indent="0">
              <a:spcAft>
                <a:spcPts val="600"/>
              </a:spcAft>
              <a:buNone/>
            </a:pPr>
            <a:r>
              <a:rPr lang="en-US" sz="2000" b="1" dirty="0">
                <a:solidFill>
                  <a:schemeClr val="tx1"/>
                </a:solidFill>
              </a:rPr>
              <a:t>Spread evenly</a:t>
            </a:r>
            <a:endParaRPr lang="en-US" sz="2000" dirty="0"/>
          </a:p>
          <a:p>
            <a:pPr marL="0" indent="0">
              <a:spcAft>
                <a:spcPts val="600"/>
              </a:spcAft>
              <a:buNone/>
            </a:pPr>
            <a:r>
              <a:rPr lang="en-US" sz="1500" dirty="0">
                <a:solidFill>
                  <a:schemeClr val="tx1"/>
                </a:solidFill>
              </a:rPr>
              <a:t>SAR 5M to each of the 8 lagging regions</a:t>
            </a:r>
            <a:endParaRPr lang="en-US" sz="2000" dirty="0"/>
          </a:p>
          <a:p>
            <a:pPr marL="0" indent="0">
              <a:spcAft>
                <a:spcPts val="600"/>
              </a:spcAft>
              <a:buNone/>
            </a:pPr>
            <a:r>
              <a:rPr lang="en-US" sz="1400" b="1" dirty="0">
                <a:solidFill>
                  <a:schemeClr val="tx1"/>
                </a:solidFill>
              </a:rPr>
              <a:t>Upside</a:t>
            </a:r>
            <a:endParaRPr lang="en-US" sz="2000" dirty="0"/>
          </a:p>
          <a:p>
            <a:pPr marL="0" indent="0">
              <a:spcAft>
                <a:spcPts val="600"/>
              </a:spcAft>
              <a:buNone/>
            </a:pPr>
            <a:r>
              <a:rPr lang="en-US" sz="1400" dirty="0">
                <a:solidFill>
                  <a:schemeClr val="tx1"/>
                </a:solidFill>
              </a:rPr>
              <a:t>Simple and visibly fair</a:t>
            </a:r>
            <a:endParaRPr lang="en-US" sz="2000" dirty="0"/>
          </a:p>
          <a:p>
            <a:pPr marL="0" indent="0">
              <a:spcAft>
                <a:spcPts val="600"/>
              </a:spcAft>
              <a:buNone/>
            </a:pPr>
            <a:r>
              <a:rPr lang="en-US" sz="1400" b="1" dirty="0">
                <a:solidFill>
                  <a:schemeClr val="tx1"/>
                </a:solidFill>
              </a:rPr>
              <a:t>Risk</a:t>
            </a:r>
            <a:endParaRPr lang="en-US" sz="2000" dirty="0"/>
          </a:p>
          <a:p>
            <a:pPr marL="0" indent="0">
              <a:spcAft>
                <a:spcPts val="600"/>
              </a:spcAft>
              <a:buNone/>
            </a:pPr>
            <a:r>
              <a:rPr lang="en-US" sz="1400" dirty="0">
                <a:solidFill>
                  <a:schemeClr val="tx1"/>
                </a:solidFill>
              </a:rPr>
              <a:t>Al-Jouf (0.2 pt gap) gets the same as Najran (4.1 pts): about 20x more money per point of gap</a:t>
            </a:r>
            <a:endParaRPr lang="en-US" sz="2000" dirty="0"/>
          </a:p>
        </p:txBody>
      </p:sp>
      <p:sp>
        <p:nvSpPr>
          <p:cNvPr id="7" name="option-card-B"/>
          <p:cNvSpPr/>
          <p:nvPr/>
        </p:nvSpPr>
        <p:spPr>
          <a:xfrm>
            <a:off x="4343400" y="1737360"/>
            <a:ext cx="3520440" cy="4206240"/>
          </a:xfrm>
          <a:prstGeom prst="roundRect">
            <a:avLst>
              <a:gd name="adj" fmla="val 3117"/>
            </a:avLst>
          </a:prstGeom>
          <a:solidFill>
            <a:schemeClr val="bg2"/>
          </a:solidFill>
          <a:ln/>
        </p:spPr>
        <p:txBody>
          <a:bodyPr/>
          <a:lstStyle/>
          <a:p>
            <a:endParaRPr lang="en-US"/>
          </a:p>
        </p:txBody>
      </p:sp>
      <p:sp>
        <p:nvSpPr>
          <p:cNvPr id="8" name="badge-28"/>
          <p:cNvSpPr/>
          <p:nvPr/>
        </p:nvSpPr>
        <p:spPr>
          <a:xfrm>
            <a:off x="4617720" y="1965960"/>
            <a:ext cx="502920" cy="502920"/>
          </a:xfrm>
          <a:prstGeom prst="ellipse">
            <a:avLst/>
          </a:prstGeom>
          <a:solidFill>
            <a:schemeClr val="accent1"/>
          </a:solidFill>
          <a:ln/>
        </p:spPr>
        <p:txBody>
          <a:bodyPr/>
          <a:lstStyle/>
          <a:p>
            <a:endParaRPr lang="en-US"/>
          </a:p>
        </p:txBody>
      </p:sp>
      <p:sp>
        <p:nvSpPr>
          <p:cNvPr id="9" name="badge-label-29"/>
          <p:cNvSpPr txBox="1"/>
          <p:nvPr/>
        </p:nvSpPr>
        <p:spPr>
          <a:xfrm>
            <a:off x="4617720" y="1965960"/>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B</a:t>
            </a:r>
            <a:endParaRPr lang="en-US" sz="1600" dirty="0"/>
          </a:p>
        </p:txBody>
      </p:sp>
      <p:sp>
        <p:nvSpPr>
          <p:cNvPr id="10" name="option-text-B"/>
          <p:cNvSpPr txBox="1"/>
          <p:nvPr/>
        </p:nvSpPr>
        <p:spPr>
          <a:xfrm>
            <a:off x="4617720" y="2697480"/>
            <a:ext cx="3017520" cy="3108960"/>
          </a:xfrm>
          <a:prstGeom prst="rect">
            <a:avLst/>
          </a:prstGeom>
          <a:noFill/>
          <a:ln/>
        </p:spPr>
        <p:txBody>
          <a:bodyPr wrap="square" lIns="0" tIns="0" rIns="0" bIns="0" rtlCol="0" anchor="t"/>
          <a:lstStyle/>
          <a:p>
            <a:pPr marL="0" indent="0">
              <a:spcAft>
                <a:spcPts val="600"/>
              </a:spcAft>
              <a:buNone/>
            </a:pPr>
            <a:r>
              <a:rPr lang="en-US" sz="2000" b="1" dirty="0">
                <a:solidFill>
                  <a:schemeClr val="tx1"/>
                </a:solidFill>
              </a:rPr>
              <a:t>Concentrate on the widest four</a:t>
            </a:r>
            <a:endParaRPr lang="en-US" sz="2000" dirty="0"/>
          </a:p>
          <a:p>
            <a:pPr marL="0" indent="0">
              <a:spcAft>
                <a:spcPts val="600"/>
              </a:spcAft>
              <a:buNone/>
            </a:pPr>
            <a:r>
              <a:rPr lang="en-US" sz="1500" dirty="0">
                <a:solidFill>
                  <a:schemeClr val="tx1"/>
                </a:solidFill>
              </a:rPr>
              <a:t>SAR 10M to each of the 4 widest gaps</a:t>
            </a:r>
            <a:endParaRPr lang="en-US" sz="2000" dirty="0"/>
          </a:p>
          <a:p>
            <a:pPr marL="0" indent="0">
              <a:spcAft>
                <a:spcPts val="600"/>
              </a:spcAft>
              <a:buNone/>
            </a:pPr>
            <a:r>
              <a:rPr lang="en-US" sz="1400" b="1" dirty="0">
                <a:solidFill>
                  <a:schemeClr val="tx1"/>
                </a:solidFill>
              </a:rPr>
              <a:t>Upside</a:t>
            </a:r>
            <a:endParaRPr lang="en-US" sz="2000" dirty="0"/>
          </a:p>
          <a:p>
            <a:pPr marL="0" indent="0">
              <a:spcAft>
                <a:spcPts val="600"/>
              </a:spcAft>
              <a:buNone/>
            </a:pPr>
            <a:r>
              <a:rPr lang="en-US" sz="1400" dirty="0">
                <a:solidFill>
                  <a:schemeClr val="tx1"/>
                </a:solidFill>
              </a:rPr>
              <a:t>Maximum push where the gaps are largest</a:t>
            </a:r>
            <a:endParaRPr lang="en-US" sz="2000" dirty="0"/>
          </a:p>
          <a:p>
            <a:pPr marL="0" indent="0">
              <a:spcAft>
                <a:spcPts val="600"/>
              </a:spcAft>
              <a:buNone/>
            </a:pPr>
            <a:r>
              <a:rPr lang="en-US" sz="1400" b="1" dirty="0">
                <a:solidFill>
                  <a:schemeClr val="tx1"/>
                </a:solidFill>
              </a:rPr>
              <a:t>Risk</a:t>
            </a:r>
            <a:endParaRPr lang="en-US" sz="2000" dirty="0"/>
          </a:p>
          <a:p>
            <a:pPr marL="0" indent="0">
              <a:spcAft>
                <a:spcPts val="600"/>
              </a:spcAft>
              <a:buNone/>
            </a:pPr>
            <a:r>
              <a:rPr lang="en-US" sz="1400" dirty="0">
                <a:solidFill>
                  <a:schemeClr val="tx1"/>
                </a:solidFill>
              </a:rPr>
              <a:t>Four regions stay below 65%, and funding per point is uneven between the four</a:t>
            </a:r>
            <a:endParaRPr lang="en-US" sz="2000" dirty="0"/>
          </a:p>
        </p:txBody>
      </p:sp>
      <p:sp>
        <p:nvSpPr>
          <p:cNvPr id="11" name="option-card-C"/>
          <p:cNvSpPr/>
          <p:nvPr/>
        </p:nvSpPr>
        <p:spPr>
          <a:xfrm>
            <a:off x="8138160" y="1737360"/>
            <a:ext cx="3520440" cy="4206240"/>
          </a:xfrm>
          <a:prstGeom prst="roundRect">
            <a:avLst>
              <a:gd name="adj" fmla="val 3117"/>
            </a:avLst>
          </a:prstGeom>
          <a:solidFill>
            <a:schemeClr val="accent1"/>
          </a:solidFill>
          <a:ln/>
        </p:spPr>
        <p:txBody>
          <a:bodyPr/>
          <a:lstStyle/>
          <a:p>
            <a:endParaRPr lang="en-US"/>
          </a:p>
        </p:txBody>
      </p:sp>
      <p:sp>
        <p:nvSpPr>
          <p:cNvPr id="12" name="badge-30"/>
          <p:cNvSpPr/>
          <p:nvPr/>
        </p:nvSpPr>
        <p:spPr>
          <a:xfrm>
            <a:off x="8412480" y="1965960"/>
            <a:ext cx="502920" cy="502920"/>
          </a:xfrm>
          <a:prstGeom prst="ellipse">
            <a:avLst/>
          </a:prstGeom>
          <a:solidFill>
            <a:schemeClr val="accent2"/>
          </a:solidFill>
          <a:ln/>
        </p:spPr>
        <p:txBody>
          <a:bodyPr/>
          <a:lstStyle/>
          <a:p>
            <a:endParaRPr lang="en-US"/>
          </a:p>
        </p:txBody>
      </p:sp>
      <p:sp>
        <p:nvSpPr>
          <p:cNvPr id="13" name="badge-label-31"/>
          <p:cNvSpPr txBox="1"/>
          <p:nvPr/>
        </p:nvSpPr>
        <p:spPr>
          <a:xfrm>
            <a:off x="8412480" y="1965960"/>
            <a:ext cx="502920" cy="502920"/>
          </a:xfrm>
          <a:prstGeom prst="rect">
            <a:avLst/>
          </a:prstGeom>
          <a:noFill/>
          <a:ln/>
        </p:spPr>
        <p:txBody>
          <a:bodyPr wrap="square" lIns="0" tIns="0" rIns="0" bIns="0" rtlCol="0" anchor="ctr"/>
          <a:lstStyle/>
          <a:p>
            <a:pPr marL="0" indent="0" algn="ctr">
              <a:buNone/>
            </a:pPr>
            <a:r>
              <a:rPr lang="en-US" sz="1600" b="1" dirty="0">
                <a:solidFill>
                  <a:schemeClr val="tx1"/>
                </a:solidFill>
              </a:rPr>
              <a:t>C</a:t>
            </a:r>
            <a:endParaRPr lang="en-US" sz="1600" dirty="0"/>
          </a:p>
        </p:txBody>
      </p:sp>
      <p:sp>
        <p:nvSpPr>
          <p:cNvPr id="14" name="recommended-tag"/>
          <p:cNvSpPr txBox="1"/>
          <p:nvPr/>
        </p:nvSpPr>
        <p:spPr>
          <a:xfrm>
            <a:off x="9144000" y="2011680"/>
            <a:ext cx="2286000" cy="411480"/>
          </a:xfrm>
          <a:prstGeom prst="rect">
            <a:avLst/>
          </a:prstGeom>
          <a:noFill/>
          <a:ln/>
        </p:spPr>
        <p:txBody>
          <a:bodyPr wrap="square" lIns="0" tIns="0" rIns="0" bIns="0" rtlCol="0" anchor="ctr"/>
          <a:lstStyle/>
          <a:p>
            <a:pPr marL="0" indent="0">
              <a:buNone/>
            </a:pPr>
            <a:r>
              <a:rPr lang="en-US" sz="1200" b="1" dirty="0">
                <a:solidFill>
                  <a:schemeClr val="accent2"/>
                </a:solidFill>
              </a:rPr>
              <a:t>RECOMMENDED</a:t>
            </a:r>
            <a:endParaRPr lang="en-US" sz="1200" dirty="0"/>
          </a:p>
        </p:txBody>
      </p:sp>
      <p:sp>
        <p:nvSpPr>
          <p:cNvPr id="15" name="option-text-C"/>
          <p:cNvSpPr txBox="1"/>
          <p:nvPr/>
        </p:nvSpPr>
        <p:spPr>
          <a:xfrm>
            <a:off x="8412480" y="2697480"/>
            <a:ext cx="3017520" cy="3108960"/>
          </a:xfrm>
          <a:prstGeom prst="rect">
            <a:avLst/>
          </a:prstGeom>
          <a:noFill/>
          <a:ln/>
        </p:spPr>
        <p:txBody>
          <a:bodyPr wrap="square" lIns="0" tIns="0" rIns="0" bIns="0" rtlCol="0" anchor="t"/>
          <a:lstStyle/>
          <a:p>
            <a:pPr marL="0" indent="0">
              <a:spcAft>
                <a:spcPts val="600"/>
              </a:spcAft>
              <a:buNone/>
            </a:pPr>
            <a:r>
              <a:rPr lang="en-US" sz="2000" b="1" dirty="0">
                <a:solidFill>
                  <a:schemeClr val="bg1"/>
                </a:solidFill>
              </a:rPr>
              <a:t>Tiered by gap</a:t>
            </a:r>
            <a:endParaRPr lang="en-US" sz="2000" dirty="0"/>
          </a:p>
          <a:p>
            <a:pPr marL="0" indent="0">
              <a:spcAft>
                <a:spcPts val="600"/>
              </a:spcAft>
              <a:buNone/>
            </a:pPr>
            <a:r>
              <a:rPr lang="en-US" sz="1500" dirty="0">
                <a:solidFill>
                  <a:schemeClr val="bg1"/>
                </a:solidFill>
              </a:rPr>
              <a:t>SAR 32M weighted to the 4 widest, SAR 2M to each of the other 4</a:t>
            </a:r>
            <a:endParaRPr lang="en-US" sz="2000" dirty="0"/>
          </a:p>
          <a:p>
            <a:pPr marL="0" indent="0">
              <a:spcAft>
                <a:spcPts val="600"/>
              </a:spcAft>
              <a:buNone/>
            </a:pPr>
            <a:r>
              <a:rPr lang="en-US" sz="1400" b="1" dirty="0">
                <a:solidFill>
                  <a:schemeClr val="bg1"/>
                </a:solidFill>
              </a:rPr>
              <a:t>Upside</a:t>
            </a:r>
            <a:endParaRPr lang="en-US" sz="2000" dirty="0"/>
          </a:p>
          <a:p>
            <a:pPr marL="0" indent="0">
              <a:spcAft>
                <a:spcPts val="600"/>
              </a:spcAft>
              <a:buNone/>
            </a:pPr>
            <a:r>
              <a:rPr lang="en-US" sz="1400" dirty="0">
                <a:solidFill>
                  <a:schemeClr val="bg1"/>
                </a:solidFill>
              </a:rPr>
              <a:t>Every lagging region funded; about SAR 3M per point of gap in the widest four</a:t>
            </a:r>
            <a:endParaRPr lang="en-US" sz="2000" dirty="0"/>
          </a:p>
          <a:p>
            <a:pPr marL="0" indent="0">
              <a:spcAft>
                <a:spcPts val="600"/>
              </a:spcAft>
              <a:buNone/>
            </a:pPr>
            <a:r>
              <a:rPr lang="en-US" sz="1400" b="1" dirty="0">
                <a:solidFill>
                  <a:schemeClr val="bg1"/>
                </a:solidFill>
              </a:rPr>
              <a:t>Risk</a:t>
            </a:r>
            <a:endParaRPr lang="en-US" sz="2000" dirty="0"/>
          </a:p>
          <a:p>
            <a:pPr marL="0" indent="0">
              <a:spcAft>
                <a:spcPts val="600"/>
              </a:spcAft>
              <a:buNone/>
            </a:pPr>
            <a:r>
              <a:rPr lang="en-US" sz="1400" dirty="0">
                <a:solidFill>
                  <a:schemeClr val="bg1"/>
                </a:solidFill>
              </a:rPr>
              <a:t>Needs regional cost-per-point validation</a:t>
            </a:r>
            <a:endParaRPr lang="en-US" sz="2000" dirty="0"/>
          </a:p>
        </p:txBody>
      </p:sp>
      <p:sp>
        <p:nvSpPr>
          <p:cNvPr id="16" name="options-footnote"/>
          <p:cNvSpPr txBox="1"/>
          <p:nvPr/>
        </p:nvSpPr>
        <p:spPr>
          <a:xfrm>
            <a:off x="548640" y="6035040"/>
            <a:ext cx="11064240" cy="274320"/>
          </a:xfrm>
          <a:prstGeom prst="rect">
            <a:avLst/>
          </a:prstGeom>
          <a:noFill/>
          <a:ln/>
        </p:spPr>
        <p:txBody>
          <a:bodyPr wrap="square" lIns="0" tIns="0" rIns="0" bIns="0" rtlCol="0" anchor="ctr"/>
          <a:lstStyle/>
          <a:p>
            <a:pPr marL="0" indent="0">
              <a:buNone/>
            </a:pPr>
            <a:r>
              <a:rPr lang="en-US" sz="1200" dirty="0">
                <a:solidFill>
                  <a:schemeClr val="accent5"/>
                </a:solidFill>
              </a:rPr>
              <a:t>Allocations are illustrative and use only the dashboard gaps; regional cost per point of adoption must be validated.</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5</a:t>
            </a:fld>
            <a:endParaRPr lang="en-US"/>
          </a:p>
        </p:txBody>
      </p:sp>
      <p:sp>
        <p:nvSpPr>
          <p:cNvPr id="18" name="Rectangle 17">
            <a:extLst>
              <a:ext uri="{FF2B5EF4-FFF2-40B4-BE49-F238E27FC236}">
                <a16:creationId xmlns:a16="http://schemas.microsoft.com/office/drawing/2014/main" id="{777C03CD-BA9A-6F51-BE5A-5FD6A8EC9EAF}"/>
              </a:ext>
            </a:extLst>
          </p:cNvPr>
          <p:cNvSpPr/>
          <p:nvPr/>
        </p:nvSpPr>
        <p:spPr>
          <a:xfrm>
            <a:off x="1973580" y="6400800"/>
            <a:ext cx="1226820" cy="2743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A2770557-8FE6-CED0-B4A6-35717A6D49A3}"/>
              </a:ext>
            </a:extLst>
          </p:cNvPr>
          <p:cNvSpPr txBox="1"/>
          <p:nvPr/>
        </p:nvSpPr>
        <p:spPr>
          <a:xfrm>
            <a:off x="2034540" y="6400800"/>
            <a:ext cx="1165860" cy="276999"/>
          </a:xfrm>
          <a:prstGeom prst="rect">
            <a:avLst/>
          </a:prstGeom>
          <a:noFill/>
        </p:spPr>
        <p:txBody>
          <a:bodyPr wrap="square" rtlCol="0">
            <a:spAutoFit/>
          </a:bodyPr>
          <a:lstStyle/>
          <a:p>
            <a:r>
              <a:rPr lang="en-US" sz="1200" dirty="0">
                <a:solidFill>
                  <a:schemeClr val="bg1"/>
                </a:solidFill>
              </a:rPr>
              <a:t>SDAIA – DV&amp;S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1188720"/>
          </a:xfrm>
          <a:prstGeom prst="rect">
            <a:avLst/>
          </a:prstGeom>
          <a:noFill/>
          <a:ln/>
        </p:spPr>
        <p:txBody>
          <a:bodyPr wrap="square" lIns="0" tIns="0" rIns="0" bIns="0" rtlCol="0" anchor="t"/>
          <a:lstStyle/>
          <a:p>
            <a:pPr marL="0" indent="0">
              <a:buNone/>
            </a:pPr>
            <a:r>
              <a:rPr lang="en-US" sz="3000" b="1" dirty="0">
                <a:solidFill>
                  <a:schemeClr val="tx1"/>
                </a:solidFill>
              </a:rPr>
              <a:t>Recommend Option C: fund every lagging region in proportion to its gap</a:t>
            </a:r>
            <a:endParaRPr lang="en-US" sz="3000" dirty="0"/>
          </a:p>
        </p:txBody>
      </p:sp>
      <p:sp>
        <p:nvSpPr>
          <p:cNvPr id="3" name="alloc-subtitle"/>
          <p:cNvSpPr txBox="1"/>
          <p:nvPr/>
        </p:nvSpPr>
        <p:spPr>
          <a:xfrm>
            <a:off x="548640" y="1691640"/>
            <a:ext cx="6766560" cy="274320"/>
          </a:xfrm>
          <a:prstGeom prst="rect">
            <a:avLst/>
          </a:prstGeom>
          <a:noFill/>
          <a:ln/>
        </p:spPr>
        <p:txBody>
          <a:bodyPr wrap="square" lIns="0" tIns="0" rIns="0" bIns="0" rtlCol="0" anchor="ctr"/>
          <a:lstStyle/>
          <a:p>
            <a:pPr marL="0" indent="0">
              <a:buNone/>
            </a:pPr>
            <a:r>
              <a:rPr lang="en-US" sz="1400" b="1" dirty="0">
                <a:solidFill>
                  <a:schemeClr val="tx1"/>
                </a:solidFill>
              </a:rPr>
              <a:t>SAR millions by region (total SAR 40M)</a:t>
            </a:r>
            <a:endParaRPr lang="en-US" sz="1400" dirty="0"/>
          </a:p>
        </p:txBody>
      </p:sp>
      <p:graphicFrame>
        <p:nvGraphicFramePr>
          <p:cNvPr id="4" name="Chart 0"/>
          <p:cNvGraphicFramePr/>
          <p:nvPr/>
        </p:nvGraphicFramePr>
        <p:xfrm>
          <a:off x="548640" y="2011680"/>
          <a:ext cx="676656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5" name="why-card-1"/>
          <p:cNvSpPr/>
          <p:nvPr/>
        </p:nvSpPr>
        <p:spPr>
          <a:xfrm>
            <a:off x="7772400" y="1737360"/>
            <a:ext cx="3840480" cy="1325880"/>
          </a:xfrm>
          <a:prstGeom prst="roundRect">
            <a:avLst>
              <a:gd name="adj" fmla="val 8276"/>
            </a:avLst>
          </a:prstGeom>
          <a:solidFill>
            <a:schemeClr val="bg2"/>
          </a:solidFill>
          <a:ln/>
        </p:spPr>
        <p:txBody>
          <a:bodyPr/>
          <a:lstStyle/>
          <a:p>
            <a:endParaRPr lang="en-US"/>
          </a:p>
        </p:txBody>
      </p:sp>
      <p:sp>
        <p:nvSpPr>
          <p:cNvPr id="6" name="badge-32"/>
          <p:cNvSpPr/>
          <p:nvPr/>
        </p:nvSpPr>
        <p:spPr>
          <a:xfrm>
            <a:off x="8001000" y="2148840"/>
            <a:ext cx="502920" cy="502920"/>
          </a:xfrm>
          <a:prstGeom prst="ellipse">
            <a:avLst/>
          </a:prstGeom>
          <a:solidFill>
            <a:schemeClr val="accent1"/>
          </a:solidFill>
          <a:ln/>
        </p:spPr>
        <p:txBody>
          <a:bodyPr/>
          <a:lstStyle/>
          <a:p>
            <a:endParaRPr lang="en-US"/>
          </a:p>
        </p:txBody>
      </p:sp>
      <p:sp>
        <p:nvSpPr>
          <p:cNvPr id="7" name="badge-label-33"/>
          <p:cNvSpPr txBox="1"/>
          <p:nvPr/>
        </p:nvSpPr>
        <p:spPr>
          <a:xfrm>
            <a:off x="8001000" y="2148840"/>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8" name="why-text-1"/>
          <p:cNvSpPr txBox="1"/>
          <p:nvPr/>
        </p:nvSpPr>
        <p:spPr>
          <a:xfrm>
            <a:off x="8686800" y="1847088"/>
            <a:ext cx="2743200" cy="1097280"/>
          </a:xfrm>
          <a:prstGeom prst="rect">
            <a:avLst/>
          </a:prstGeom>
          <a:noFill/>
          <a:ln/>
        </p:spPr>
        <p:txBody>
          <a:bodyPr wrap="square" lIns="0" tIns="0" rIns="0" bIns="0" rtlCol="0" anchor="ctr"/>
          <a:lstStyle/>
          <a:p>
            <a:pPr marL="0" indent="0">
              <a:spcAft>
                <a:spcPts val="400"/>
              </a:spcAft>
              <a:buNone/>
            </a:pPr>
            <a:r>
              <a:rPr lang="en-US" sz="1600" b="1" dirty="0">
                <a:solidFill>
                  <a:schemeClr val="tx1"/>
                </a:solidFill>
              </a:rPr>
              <a:t>Closes the widest gaps first</a:t>
            </a:r>
            <a:endParaRPr lang="en-US" sz="1600" dirty="0"/>
          </a:p>
          <a:p>
            <a:pPr marL="0" indent="0">
              <a:spcAft>
                <a:spcPts val="400"/>
              </a:spcAft>
              <a:buNone/>
            </a:pPr>
            <a:r>
              <a:rPr lang="en-US" sz="1400" dirty="0">
                <a:solidFill>
                  <a:schemeClr val="tx1"/>
                </a:solidFill>
              </a:rPr>
              <a:t>SAR 32M (80%) goes to the four regions that hold 87% of the shortfall</a:t>
            </a:r>
            <a:endParaRPr lang="en-US" sz="1600" dirty="0"/>
          </a:p>
        </p:txBody>
      </p:sp>
      <p:sp>
        <p:nvSpPr>
          <p:cNvPr id="9" name="why-card-2"/>
          <p:cNvSpPr/>
          <p:nvPr/>
        </p:nvSpPr>
        <p:spPr>
          <a:xfrm>
            <a:off x="7772400" y="3246120"/>
            <a:ext cx="3840480" cy="1325880"/>
          </a:xfrm>
          <a:prstGeom prst="roundRect">
            <a:avLst>
              <a:gd name="adj" fmla="val 8276"/>
            </a:avLst>
          </a:prstGeom>
          <a:solidFill>
            <a:schemeClr val="bg2"/>
          </a:solidFill>
          <a:ln/>
        </p:spPr>
        <p:txBody>
          <a:bodyPr/>
          <a:lstStyle/>
          <a:p>
            <a:endParaRPr lang="en-US"/>
          </a:p>
        </p:txBody>
      </p:sp>
      <p:sp>
        <p:nvSpPr>
          <p:cNvPr id="10" name="badge-34"/>
          <p:cNvSpPr/>
          <p:nvPr/>
        </p:nvSpPr>
        <p:spPr>
          <a:xfrm>
            <a:off x="8001000" y="3657600"/>
            <a:ext cx="502920" cy="502920"/>
          </a:xfrm>
          <a:prstGeom prst="ellipse">
            <a:avLst/>
          </a:prstGeom>
          <a:solidFill>
            <a:schemeClr val="accent1"/>
          </a:solidFill>
          <a:ln/>
        </p:spPr>
        <p:txBody>
          <a:bodyPr/>
          <a:lstStyle/>
          <a:p>
            <a:endParaRPr lang="en-US"/>
          </a:p>
        </p:txBody>
      </p:sp>
      <p:sp>
        <p:nvSpPr>
          <p:cNvPr id="11" name="badge-label-35"/>
          <p:cNvSpPr txBox="1"/>
          <p:nvPr/>
        </p:nvSpPr>
        <p:spPr>
          <a:xfrm>
            <a:off x="8001000" y="3657600"/>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2" name="why-text-2"/>
          <p:cNvSpPr txBox="1"/>
          <p:nvPr/>
        </p:nvSpPr>
        <p:spPr>
          <a:xfrm>
            <a:off x="8686800" y="3355848"/>
            <a:ext cx="2743200" cy="1097280"/>
          </a:xfrm>
          <a:prstGeom prst="rect">
            <a:avLst/>
          </a:prstGeom>
          <a:noFill/>
          <a:ln/>
        </p:spPr>
        <p:txBody>
          <a:bodyPr wrap="square" lIns="0" tIns="0" rIns="0" bIns="0" rtlCol="0" anchor="ctr"/>
          <a:lstStyle/>
          <a:p>
            <a:pPr marL="0" indent="0">
              <a:spcAft>
                <a:spcPts val="400"/>
              </a:spcAft>
              <a:buNone/>
            </a:pPr>
            <a:r>
              <a:rPr lang="en-US" sz="1600" b="1" dirty="0">
                <a:solidFill>
                  <a:schemeClr val="tx1"/>
                </a:solidFill>
              </a:rPr>
              <a:t>No lagging region left behind</a:t>
            </a:r>
            <a:endParaRPr lang="en-US" sz="1600" dirty="0"/>
          </a:p>
          <a:p>
            <a:pPr marL="0" indent="0">
              <a:spcAft>
                <a:spcPts val="400"/>
              </a:spcAft>
              <a:buNone/>
            </a:pPr>
            <a:r>
              <a:rPr lang="en-US" sz="1400" dirty="0">
                <a:solidFill>
                  <a:schemeClr val="tx1"/>
                </a:solidFill>
              </a:rPr>
              <a:t>SAR 2M each helps the four near-miss regions cross 65%</a:t>
            </a:r>
            <a:endParaRPr lang="en-US" sz="1600" dirty="0"/>
          </a:p>
        </p:txBody>
      </p:sp>
      <p:sp>
        <p:nvSpPr>
          <p:cNvPr id="13" name="why-card-3"/>
          <p:cNvSpPr/>
          <p:nvPr/>
        </p:nvSpPr>
        <p:spPr>
          <a:xfrm>
            <a:off x="7772400" y="4754880"/>
            <a:ext cx="3840480" cy="1325880"/>
          </a:xfrm>
          <a:prstGeom prst="roundRect">
            <a:avLst>
              <a:gd name="adj" fmla="val 8276"/>
            </a:avLst>
          </a:prstGeom>
          <a:solidFill>
            <a:schemeClr val="bg2"/>
          </a:solidFill>
          <a:ln/>
        </p:spPr>
        <p:txBody>
          <a:bodyPr/>
          <a:lstStyle/>
          <a:p>
            <a:endParaRPr lang="en-US"/>
          </a:p>
        </p:txBody>
      </p:sp>
      <p:sp>
        <p:nvSpPr>
          <p:cNvPr id="14" name="badge-36"/>
          <p:cNvSpPr/>
          <p:nvPr/>
        </p:nvSpPr>
        <p:spPr>
          <a:xfrm>
            <a:off x="8001000" y="5166360"/>
            <a:ext cx="502920" cy="502920"/>
          </a:xfrm>
          <a:prstGeom prst="ellipse">
            <a:avLst/>
          </a:prstGeom>
          <a:solidFill>
            <a:schemeClr val="accent1"/>
          </a:solidFill>
          <a:ln/>
        </p:spPr>
        <p:txBody>
          <a:bodyPr/>
          <a:lstStyle/>
          <a:p>
            <a:endParaRPr lang="en-US"/>
          </a:p>
        </p:txBody>
      </p:sp>
      <p:sp>
        <p:nvSpPr>
          <p:cNvPr id="15" name="badge-label-37"/>
          <p:cNvSpPr txBox="1"/>
          <p:nvPr/>
        </p:nvSpPr>
        <p:spPr>
          <a:xfrm>
            <a:off x="8001000" y="5166360"/>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6" name="why-text-3"/>
          <p:cNvSpPr txBox="1"/>
          <p:nvPr/>
        </p:nvSpPr>
        <p:spPr>
          <a:xfrm>
            <a:off x="8686800" y="4864608"/>
            <a:ext cx="2743200" cy="1097280"/>
          </a:xfrm>
          <a:prstGeom prst="rect">
            <a:avLst/>
          </a:prstGeom>
          <a:noFill/>
          <a:ln/>
        </p:spPr>
        <p:txBody>
          <a:bodyPr wrap="square" lIns="0" tIns="0" rIns="0" bIns="0" rtlCol="0" anchor="ctr"/>
          <a:lstStyle/>
          <a:p>
            <a:pPr marL="0" indent="0">
              <a:spcAft>
                <a:spcPts val="400"/>
              </a:spcAft>
              <a:buNone/>
            </a:pPr>
            <a:r>
              <a:rPr lang="en-US" sz="1600" b="1" dirty="0">
                <a:solidFill>
                  <a:schemeClr val="tx1"/>
                </a:solidFill>
              </a:rPr>
              <a:t>Money follows need</a:t>
            </a:r>
            <a:endParaRPr lang="en-US" sz="1600" dirty="0"/>
          </a:p>
          <a:p>
            <a:pPr marL="0" indent="0">
              <a:spcAft>
                <a:spcPts val="400"/>
              </a:spcAft>
              <a:buNone/>
            </a:pPr>
            <a:r>
              <a:rPr lang="en-US" sz="1400" dirty="0">
                <a:solidFill>
                  <a:schemeClr val="tx1"/>
                </a:solidFill>
              </a:rPr>
              <a:t>About SAR 3M per point of gap in each of the widest four</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6</a:t>
            </a:fld>
            <a:endParaRPr lang="en-US"/>
          </a:p>
        </p:txBody>
      </p:sp>
      <p:sp>
        <p:nvSpPr>
          <p:cNvPr id="18" name="Rectangle 17">
            <a:extLst>
              <a:ext uri="{FF2B5EF4-FFF2-40B4-BE49-F238E27FC236}">
                <a16:creationId xmlns:a16="http://schemas.microsoft.com/office/drawing/2014/main" id="{FF0C56D5-8627-0F02-7C93-712FBC216B28}"/>
              </a:ext>
            </a:extLst>
          </p:cNvPr>
          <p:cNvSpPr/>
          <p:nvPr/>
        </p:nvSpPr>
        <p:spPr>
          <a:xfrm>
            <a:off x="1973580" y="6390640"/>
            <a:ext cx="1226820" cy="2743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466EEA7-6C24-3AD4-4C8C-61049F9CC124}"/>
              </a:ext>
            </a:extLst>
          </p:cNvPr>
          <p:cNvSpPr txBox="1"/>
          <p:nvPr/>
        </p:nvSpPr>
        <p:spPr>
          <a:xfrm>
            <a:off x="2034540" y="6390640"/>
            <a:ext cx="1165860" cy="276999"/>
          </a:xfrm>
          <a:prstGeom prst="rect">
            <a:avLst/>
          </a:prstGeom>
          <a:noFill/>
        </p:spPr>
        <p:txBody>
          <a:bodyPr wrap="square" rtlCol="0">
            <a:spAutoFit/>
          </a:bodyPr>
          <a:lstStyle/>
          <a:p>
            <a:r>
              <a:rPr lang="en-US" sz="1200" dirty="0">
                <a:solidFill>
                  <a:schemeClr val="bg1"/>
                </a:solidFill>
              </a:rPr>
              <a:t>SDAIA – DV&amp;S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1188720"/>
          </a:xfrm>
          <a:prstGeom prst="rect">
            <a:avLst/>
          </a:prstGeom>
          <a:noFill/>
          <a:ln/>
        </p:spPr>
        <p:txBody>
          <a:bodyPr wrap="square" lIns="0" tIns="0" rIns="0" bIns="0" rtlCol="0" anchor="t"/>
          <a:lstStyle/>
          <a:p>
            <a:pPr marL="0" indent="0">
              <a:buNone/>
            </a:pPr>
            <a:r>
              <a:rPr lang="en-US" sz="3000" b="1" dirty="0">
                <a:solidFill>
                  <a:schemeClr val="bg1"/>
                </a:solidFill>
              </a:rPr>
              <a:t>Decision today: approve the SAR 40M tiered allocation</a:t>
            </a:r>
            <a:endParaRPr lang="en-US" sz="3000" dirty="0"/>
          </a:p>
        </p:txBody>
      </p:sp>
      <p:sp>
        <p:nvSpPr>
          <p:cNvPr id="3" name="step-card-1"/>
          <p:cNvSpPr/>
          <p:nvPr/>
        </p:nvSpPr>
        <p:spPr>
          <a:xfrm>
            <a:off x="548640" y="1737360"/>
            <a:ext cx="3520440" cy="2651760"/>
          </a:xfrm>
          <a:prstGeom prst="roundRect">
            <a:avLst>
              <a:gd name="adj" fmla="val 4138"/>
            </a:avLst>
          </a:prstGeom>
          <a:solidFill>
            <a:schemeClr val="tx1"/>
          </a:solidFill>
          <a:ln/>
        </p:spPr>
        <p:txBody>
          <a:bodyPr/>
          <a:lstStyle/>
          <a:p>
            <a:endParaRPr lang="en-US"/>
          </a:p>
        </p:txBody>
      </p:sp>
      <p:sp>
        <p:nvSpPr>
          <p:cNvPr id="4" name="badge-38"/>
          <p:cNvSpPr/>
          <p:nvPr/>
        </p:nvSpPr>
        <p:spPr>
          <a:xfrm>
            <a:off x="822960" y="1965960"/>
            <a:ext cx="502920" cy="502920"/>
          </a:xfrm>
          <a:prstGeom prst="ellipse">
            <a:avLst/>
          </a:prstGeom>
          <a:solidFill>
            <a:schemeClr val="accent2"/>
          </a:solidFill>
          <a:ln/>
        </p:spPr>
        <p:txBody>
          <a:bodyPr/>
          <a:lstStyle/>
          <a:p>
            <a:endParaRPr lang="en-US"/>
          </a:p>
        </p:txBody>
      </p:sp>
      <p:sp>
        <p:nvSpPr>
          <p:cNvPr id="5" name="badge-label-39"/>
          <p:cNvSpPr txBox="1"/>
          <p:nvPr/>
        </p:nvSpPr>
        <p:spPr>
          <a:xfrm>
            <a:off x="822960" y="1965960"/>
            <a:ext cx="502920" cy="502920"/>
          </a:xfrm>
          <a:prstGeom prst="rect">
            <a:avLst/>
          </a:prstGeom>
          <a:noFill/>
          <a:ln/>
        </p:spPr>
        <p:txBody>
          <a:bodyPr wrap="square" lIns="0" tIns="0" rIns="0" bIns="0" rtlCol="0" anchor="ctr"/>
          <a:lstStyle/>
          <a:p>
            <a:pPr marL="0" indent="0" algn="ctr">
              <a:buNone/>
            </a:pPr>
            <a:r>
              <a:rPr lang="en-US" sz="1600" b="1" dirty="0">
                <a:solidFill>
                  <a:schemeClr val="tx1"/>
                </a:solidFill>
              </a:rPr>
              <a:t>1</a:t>
            </a:r>
            <a:endParaRPr lang="en-US" sz="1600" dirty="0"/>
          </a:p>
        </p:txBody>
      </p:sp>
      <p:sp>
        <p:nvSpPr>
          <p:cNvPr id="6" name="step-text-1"/>
          <p:cNvSpPr txBox="1"/>
          <p:nvPr/>
        </p:nvSpPr>
        <p:spPr>
          <a:xfrm>
            <a:off x="822960" y="2651760"/>
            <a:ext cx="3017520" cy="1645920"/>
          </a:xfrm>
          <a:prstGeom prst="rect">
            <a:avLst/>
          </a:prstGeom>
          <a:noFill/>
          <a:ln/>
        </p:spPr>
        <p:txBody>
          <a:bodyPr wrap="square" lIns="0" tIns="0" rIns="0" bIns="0" rtlCol="0" anchor="t"/>
          <a:lstStyle/>
          <a:p>
            <a:pPr marL="0" indent="0">
              <a:spcAft>
                <a:spcPts val="600"/>
              </a:spcAft>
              <a:buNone/>
            </a:pPr>
            <a:r>
              <a:rPr lang="en-US" sz="1800" b="1" dirty="0">
                <a:solidFill>
                  <a:schemeClr val="bg1"/>
                </a:solidFill>
              </a:rPr>
              <a:t>Approve today</a:t>
            </a:r>
            <a:endParaRPr lang="en-US" sz="1800" dirty="0"/>
          </a:p>
          <a:p>
            <a:pPr marL="0" indent="0">
              <a:spcAft>
                <a:spcPts val="600"/>
              </a:spcAft>
              <a:buNone/>
            </a:pPr>
            <a:r>
              <a:rPr lang="en-US" sz="1400" dirty="0">
                <a:solidFill>
                  <a:schemeClr val="bg1"/>
                </a:solidFill>
              </a:rPr>
              <a:t>SAR 40M tiered allocation: SAR 32M to the four widest gaps, SAR 8M to the four near-miss regions</a:t>
            </a:r>
            <a:endParaRPr lang="en-US" sz="1800" dirty="0"/>
          </a:p>
        </p:txBody>
      </p:sp>
      <p:sp>
        <p:nvSpPr>
          <p:cNvPr id="7" name="step-card-2"/>
          <p:cNvSpPr/>
          <p:nvPr/>
        </p:nvSpPr>
        <p:spPr>
          <a:xfrm>
            <a:off x="4343400" y="1737360"/>
            <a:ext cx="3520440" cy="2651760"/>
          </a:xfrm>
          <a:prstGeom prst="roundRect">
            <a:avLst>
              <a:gd name="adj" fmla="val 4138"/>
            </a:avLst>
          </a:prstGeom>
          <a:solidFill>
            <a:schemeClr val="tx1"/>
          </a:solidFill>
          <a:ln/>
        </p:spPr>
        <p:txBody>
          <a:bodyPr/>
          <a:lstStyle/>
          <a:p>
            <a:endParaRPr lang="en-US"/>
          </a:p>
        </p:txBody>
      </p:sp>
      <p:sp>
        <p:nvSpPr>
          <p:cNvPr id="8" name="badge-40"/>
          <p:cNvSpPr/>
          <p:nvPr/>
        </p:nvSpPr>
        <p:spPr>
          <a:xfrm>
            <a:off x="4617720" y="1965960"/>
            <a:ext cx="502920" cy="502920"/>
          </a:xfrm>
          <a:prstGeom prst="ellipse">
            <a:avLst/>
          </a:prstGeom>
          <a:solidFill>
            <a:schemeClr val="accent2"/>
          </a:solidFill>
          <a:ln/>
        </p:spPr>
        <p:txBody>
          <a:bodyPr/>
          <a:lstStyle/>
          <a:p>
            <a:endParaRPr lang="en-US"/>
          </a:p>
        </p:txBody>
      </p:sp>
      <p:sp>
        <p:nvSpPr>
          <p:cNvPr id="9" name="badge-label-41"/>
          <p:cNvSpPr txBox="1"/>
          <p:nvPr/>
        </p:nvSpPr>
        <p:spPr>
          <a:xfrm>
            <a:off x="4617720" y="1965960"/>
            <a:ext cx="502920" cy="502920"/>
          </a:xfrm>
          <a:prstGeom prst="rect">
            <a:avLst/>
          </a:prstGeom>
          <a:noFill/>
          <a:ln/>
        </p:spPr>
        <p:txBody>
          <a:bodyPr wrap="square" lIns="0" tIns="0" rIns="0" bIns="0" rtlCol="0" anchor="ctr"/>
          <a:lstStyle/>
          <a:p>
            <a:pPr marL="0" indent="0" algn="ctr">
              <a:buNone/>
            </a:pPr>
            <a:r>
              <a:rPr lang="en-US" sz="1600" b="1" dirty="0">
                <a:solidFill>
                  <a:schemeClr val="tx1"/>
                </a:solidFill>
              </a:rPr>
              <a:t>2</a:t>
            </a:r>
            <a:endParaRPr lang="en-US" sz="1600" dirty="0"/>
          </a:p>
        </p:txBody>
      </p:sp>
      <p:sp>
        <p:nvSpPr>
          <p:cNvPr id="10" name="step-text-2"/>
          <p:cNvSpPr txBox="1"/>
          <p:nvPr/>
        </p:nvSpPr>
        <p:spPr>
          <a:xfrm>
            <a:off x="4617720" y="2651760"/>
            <a:ext cx="3017520" cy="1645920"/>
          </a:xfrm>
          <a:prstGeom prst="rect">
            <a:avLst/>
          </a:prstGeom>
          <a:noFill/>
          <a:ln/>
        </p:spPr>
        <p:txBody>
          <a:bodyPr wrap="square" lIns="0" tIns="0" rIns="0" bIns="0" rtlCol="0" anchor="t"/>
          <a:lstStyle/>
          <a:p>
            <a:pPr marL="0" indent="0">
              <a:spcAft>
                <a:spcPts val="600"/>
              </a:spcAft>
              <a:buNone/>
            </a:pPr>
            <a:r>
              <a:rPr lang="en-US" sz="1800" b="1" dirty="0">
                <a:solidFill>
                  <a:schemeClr val="bg1"/>
                </a:solidFill>
              </a:rPr>
              <a:t>Validate within 30 days (proposed)</a:t>
            </a:r>
            <a:endParaRPr lang="en-US" sz="1800" dirty="0"/>
          </a:p>
          <a:p>
            <a:pPr marL="0" indent="0">
              <a:spcAft>
                <a:spcPts val="600"/>
              </a:spcAft>
              <a:buNone/>
            </a:pPr>
            <a:r>
              <a:rPr lang="en-US" sz="1400" dirty="0">
                <a:solidFill>
                  <a:schemeClr val="bg1"/>
                </a:solidFill>
              </a:rPr>
              <a:t>Confirm cost per point of adoption with each region's delivery team before funds are released</a:t>
            </a:r>
            <a:endParaRPr lang="en-US" sz="1800" dirty="0"/>
          </a:p>
        </p:txBody>
      </p:sp>
      <p:sp>
        <p:nvSpPr>
          <p:cNvPr id="11" name="step-card-3"/>
          <p:cNvSpPr/>
          <p:nvPr/>
        </p:nvSpPr>
        <p:spPr>
          <a:xfrm>
            <a:off x="8138160" y="1737360"/>
            <a:ext cx="3520440" cy="2651760"/>
          </a:xfrm>
          <a:prstGeom prst="roundRect">
            <a:avLst>
              <a:gd name="adj" fmla="val 4138"/>
            </a:avLst>
          </a:prstGeom>
          <a:solidFill>
            <a:schemeClr val="tx1"/>
          </a:solidFill>
          <a:ln/>
        </p:spPr>
        <p:txBody>
          <a:bodyPr/>
          <a:lstStyle/>
          <a:p>
            <a:endParaRPr lang="en-US"/>
          </a:p>
        </p:txBody>
      </p:sp>
      <p:sp>
        <p:nvSpPr>
          <p:cNvPr id="12" name="badge-42"/>
          <p:cNvSpPr/>
          <p:nvPr/>
        </p:nvSpPr>
        <p:spPr>
          <a:xfrm>
            <a:off x="8412480" y="1965960"/>
            <a:ext cx="502920" cy="502920"/>
          </a:xfrm>
          <a:prstGeom prst="ellipse">
            <a:avLst/>
          </a:prstGeom>
          <a:solidFill>
            <a:schemeClr val="accent2"/>
          </a:solidFill>
          <a:ln/>
        </p:spPr>
        <p:txBody>
          <a:bodyPr/>
          <a:lstStyle/>
          <a:p>
            <a:endParaRPr lang="en-US"/>
          </a:p>
        </p:txBody>
      </p:sp>
      <p:sp>
        <p:nvSpPr>
          <p:cNvPr id="13" name="badge-label-43"/>
          <p:cNvSpPr txBox="1"/>
          <p:nvPr/>
        </p:nvSpPr>
        <p:spPr>
          <a:xfrm>
            <a:off x="8412480" y="1965960"/>
            <a:ext cx="502920" cy="502920"/>
          </a:xfrm>
          <a:prstGeom prst="rect">
            <a:avLst/>
          </a:prstGeom>
          <a:noFill/>
          <a:ln/>
        </p:spPr>
        <p:txBody>
          <a:bodyPr wrap="square" lIns="0" tIns="0" rIns="0" bIns="0" rtlCol="0" anchor="ctr"/>
          <a:lstStyle/>
          <a:p>
            <a:pPr marL="0" indent="0" algn="ctr">
              <a:buNone/>
            </a:pPr>
            <a:r>
              <a:rPr lang="en-US" sz="1600" b="1" dirty="0">
                <a:solidFill>
                  <a:schemeClr val="tx1"/>
                </a:solidFill>
              </a:rPr>
              <a:t>3</a:t>
            </a:r>
            <a:endParaRPr lang="en-US" sz="1600" dirty="0"/>
          </a:p>
        </p:txBody>
      </p:sp>
      <p:sp>
        <p:nvSpPr>
          <p:cNvPr id="14" name="step-text-3"/>
          <p:cNvSpPr txBox="1"/>
          <p:nvPr/>
        </p:nvSpPr>
        <p:spPr>
          <a:xfrm>
            <a:off x="8412480" y="2651760"/>
            <a:ext cx="3017520" cy="1645920"/>
          </a:xfrm>
          <a:prstGeom prst="rect">
            <a:avLst/>
          </a:prstGeom>
          <a:noFill/>
          <a:ln/>
        </p:spPr>
        <p:txBody>
          <a:bodyPr wrap="square" lIns="0" tIns="0" rIns="0" bIns="0" rtlCol="0" anchor="t"/>
          <a:lstStyle/>
          <a:p>
            <a:pPr marL="0" indent="0">
              <a:spcAft>
                <a:spcPts val="600"/>
              </a:spcAft>
              <a:buNone/>
            </a:pPr>
            <a:r>
              <a:rPr lang="en-US" sz="1800" b="1" dirty="0">
                <a:solidFill>
                  <a:schemeClr val="bg1"/>
                </a:solidFill>
              </a:rPr>
              <a:t>Review at 6 months (proposed)</a:t>
            </a:r>
            <a:endParaRPr lang="en-US" sz="1800" dirty="0"/>
          </a:p>
          <a:p>
            <a:pPr marL="0" indent="0">
              <a:spcAft>
                <a:spcPts val="600"/>
              </a:spcAft>
              <a:buNone/>
            </a:pPr>
            <a:r>
              <a:rPr lang="en-US" sz="1400" dirty="0">
                <a:solidFill>
                  <a:schemeClr val="bg1"/>
                </a:solidFill>
              </a:rPr>
              <a:t>Re-check the Tayseer dashboard: are all eight lagging regions at or above 65%?</a:t>
            </a:r>
            <a:endParaRPr lang="en-US" sz="1800" dirty="0"/>
          </a:p>
        </p:txBody>
      </p:sp>
      <p:sp>
        <p:nvSpPr>
          <p:cNvPr id="15" name="closing-banner"/>
          <p:cNvSpPr/>
          <p:nvPr/>
        </p:nvSpPr>
        <p:spPr>
          <a:xfrm>
            <a:off x="548640" y="4663440"/>
            <a:ext cx="11064240" cy="1371600"/>
          </a:xfrm>
          <a:prstGeom prst="roundRect">
            <a:avLst>
              <a:gd name="adj" fmla="val 8000"/>
            </a:avLst>
          </a:prstGeom>
          <a:solidFill>
            <a:schemeClr val="accent1"/>
          </a:solidFill>
          <a:ln/>
        </p:spPr>
        <p:txBody>
          <a:bodyPr/>
          <a:lstStyle/>
          <a:p>
            <a:endParaRPr lang="en-US"/>
          </a:p>
        </p:txBody>
      </p:sp>
      <p:sp>
        <p:nvSpPr>
          <p:cNvPr id="16" name="closing-ask"/>
          <p:cNvSpPr txBox="1"/>
          <p:nvPr/>
        </p:nvSpPr>
        <p:spPr>
          <a:xfrm>
            <a:off x="822960" y="4754880"/>
            <a:ext cx="10515600" cy="1188720"/>
          </a:xfrm>
          <a:prstGeom prst="rect">
            <a:avLst/>
          </a:prstGeom>
          <a:noFill/>
          <a:ln/>
        </p:spPr>
        <p:txBody>
          <a:bodyPr wrap="square" lIns="0" tIns="0" rIns="0" bIns="0" rtlCol="0" anchor="ctr"/>
          <a:lstStyle/>
          <a:p>
            <a:pPr marL="0" indent="0" algn="ctr">
              <a:buNone/>
            </a:pPr>
            <a:r>
              <a:rPr lang="en-US" sz="2200" b="1" dirty="0">
                <a:solidFill>
                  <a:schemeClr val="bg1"/>
                </a:solidFill>
              </a:rPr>
              <a:t>The ask, once more: approve SAR 40M, with 80% to Najran, Northern Borders, Al-Baha and Jazan.</a:t>
            </a:r>
            <a:endParaRPr lang="en-US" sz="2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7</a:t>
            </a:fld>
            <a:endParaRPr lang="en-US"/>
          </a:p>
        </p:txBody>
      </p:sp>
      <p:sp>
        <p:nvSpPr>
          <p:cNvPr id="18" name="Rectangle 17">
            <a:extLst>
              <a:ext uri="{FF2B5EF4-FFF2-40B4-BE49-F238E27FC236}">
                <a16:creationId xmlns:a16="http://schemas.microsoft.com/office/drawing/2014/main" id="{F49EFDE4-0DC2-0899-8955-AF5AA27695B3}"/>
              </a:ext>
            </a:extLst>
          </p:cNvPr>
          <p:cNvSpPr/>
          <p:nvPr/>
        </p:nvSpPr>
        <p:spPr>
          <a:xfrm>
            <a:off x="1973580" y="6400800"/>
            <a:ext cx="1226820" cy="2743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77B4B4FF-0D67-3866-436E-F582E84E0BCF}"/>
              </a:ext>
            </a:extLst>
          </p:cNvPr>
          <p:cNvSpPr txBox="1"/>
          <p:nvPr/>
        </p:nvSpPr>
        <p:spPr>
          <a:xfrm>
            <a:off x="2034540" y="6400800"/>
            <a:ext cx="1165860" cy="276999"/>
          </a:xfrm>
          <a:prstGeom prst="rect">
            <a:avLst/>
          </a:prstGeom>
          <a:noFill/>
        </p:spPr>
        <p:txBody>
          <a:bodyPr wrap="square" rtlCol="0">
            <a:spAutoFit/>
          </a:bodyPr>
          <a:lstStyle/>
          <a:p>
            <a:r>
              <a:rPr lang="en-US" sz="1200" dirty="0">
                <a:solidFill>
                  <a:schemeClr val="bg1"/>
                </a:solidFill>
              </a:rPr>
              <a:t>SDAIA – DV&amp;S</a:t>
            </a:r>
          </a:p>
        </p:txBody>
      </p:sp>
    </p:spTree>
  </p:cSld>
  <p:clrMapOvr>
    <a:masterClrMapping/>
  </p:clrMapOvr>
</p:sld>
</file>

<file path=ppt/theme/theme1.xml><?xml version="1.0" encoding="utf-8"?>
<a:theme xmlns:a="http://schemas.openxmlformats.org/drawingml/2006/main" name="Tayseer Capstone">
  <a:themeElements>
    <a:clrScheme name="Tayseer Capstone">
      <a:dk1>
        <a:srgbClr val="0B1F3A"/>
      </a:dk1>
      <a:lt1>
        <a:srgbClr val="FFFFFF"/>
      </a:lt1>
      <a:dk2>
        <a:srgbClr val="0B2545"/>
      </a:dk2>
      <a:lt2>
        <a:srgbClr val="EEF2F7"/>
      </a:lt2>
      <a:accent1>
        <a:srgbClr val="0B7A75"/>
      </a:accent1>
      <a:accent2>
        <a:srgbClr val="F2A541"/>
      </a:accent2>
      <a:accent3>
        <a:srgbClr val="C0392B"/>
      </a:accent3>
      <a:accent4>
        <a:srgbClr val="2E8B57"/>
      </a:accent4>
      <a:accent5>
        <a:srgbClr val="5B6B82"/>
      </a:accent5>
      <a:accent6>
        <a:srgbClr val="8FB8DE"/>
      </a:accent6>
      <a:hlink>
        <a:srgbClr val="0B7A75"/>
      </a:hlink>
      <a:folHlink>
        <a:srgbClr val="5B6B82"/>
      </a:folHlink>
    </a:clrScheme>
    <a:fontScheme name="Tayseer Capston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TotalTime>
  <Words>1147</Words>
  <Application>Microsoft Office PowerPoint</Application>
  <PresentationFormat>Widescreen</PresentationFormat>
  <Paragraphs>108</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Cambria</vt:lpstr>
      <vt:lpstr>Tayseer Capstone</vt:lpstr>
      <vt:lpstr>Invest SAR 40M where the gap is widest: four regions need most of it</vt:lpstr>
      <vt:lpstr>Nationally Tayseer is on track: 66.2% adoption against a 65% target</vt:lpstr>
      <vt:lpstr>The national average hides it: 8 of 13 regions sit below 65%</vt:lpstr>
      <vt:lpstr>Four regions hold 87% of the shortfall, led by Najran at 4.1 points</vt:lpstr>
      <vt:lpstr>Three ways to spend SAR 40M: only a tiered split matches money to need</vt:lpstr>
      <vt:lpstr>Recommend Option C: fund every lagging region in proportion to its gap</vt:lpstr>
      <vt:lpstr>Decision today: approve the SAR 40M tiered allocation</vt:lpstr>
    </vt:vector>
  </TitlesOfParts>
  <Company>SDAIA Academy - SDA-DSC-112</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Tayseer Digital Adoption - Capstone</dc:title>
  <dc:subject>PptxGenJS Presentation</dc:subject>
  <dc:creator>Mohammed Albilaly</dc:creator>
  <cp:lastModifiedBy>محمد البلالي ID 444101589</cp:lastModifiedBy>
  <cp:revision>2</cp:revision>
  <dcterms:created xsi:type="dcterms:W3CDTF">2026-10-06T14:36:13Z</dcterms:created>
  <dcterms:modified xsi:type="dcterms:W3CDTF">2026-10-06T16:24:33Z</dcterms:modified>
</cp:coreProperties>
</file>